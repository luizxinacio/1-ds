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ptos" panose="020B0604020202020204" charset="0"/>
      <p:regular r:id="rId12"/>
    </p:embeddedFont>
    <p:embeddedFont>
      <p:font typeface="Aptos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74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1181100"/>
            <a:ext cx="13716000" cy="3702843"/>
            <a:chOff x="0" y="-669925"/>
            <a:chExt cx="18288000" cy="4937124"/>
          </a:xfrm>
        </p:grpSpPr>
        <p:sp>
          <p:nvSpPr>
            <p:cNvPr id="3" name="Freeform 3"/>
            <p:cNvSpPr/>
            <p:nvPr/>
          </p:nvSpPr>
          <p:spPr>
            <a:xfrm>
              <a:off x="0" y="-669925"/>
              <a:ext cx="18288000" cy="4775200"/>
            </a:xfrm>
            <a:custGeom>
              <a:avLst/>
              <a:gdLst/>
              <a:ahLst/>
              <a:cxnLst/>
              <a:rect l="l" t="t" r="r" b="b"/>
              <a:pathLst>
                <a:path w="18288000" h="47752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03226"/>
              <a:ext cx="18288000" cy="46704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 b="1" dirty="0" err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Análise</a:t>
              </a:r>
              <a:r>
                <a:rPr lang="en-US" sz="9000" b="1" dirty="0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e </a:t>
              </a:r>
              <a:r>
                <a:rPr lang="en-US" sz="9000" b="1" dirty="0" err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Projeto</a:t>
              </a:r>
              <a:r>
                <a:rPr lang="en-US" sz="9000" b="1" dirty="0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de </a:t>
              </a:r>
              <a:r>
                <a:rPr lang="en-US" sz="9000" b="1" dirty="0" err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Sistemas</a:t>
              </a:r>
              <a:endParaRPr lang="en-US" sz="9000" b="1" dirty="0">
                <a:solidFill>
                  <a:srgbClr val="C00000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286000" y="5403057"/>
            <a:ext cx="13716000" cy="2483643"/>
            <a:chOff x="0" y="0"/>
            <a:chExt cx="18288000" cy="33115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3311524"/>
            </a:xfrm>
            <a:custGeom>
              <a:avLst/>
              <a:gdLst/>
              <a:ahLst/>
              <a:cxnLst/>
              <a:rect l="l" t="t" r="r" b="b"/>
              <a:pathLst>
                <a:path w="18288000" h="3311524">
                  <a:moveTo>
                    <a:pt x="0" y="0"/>
                  </a:moveTo>
                  <a:lnTo>
                    <a:pt x="18288000" y="0"/>
                  </a:lnTo>
                  <a:lnTo>
                    <a:pt x="18288000" y="3311524"/>
                  </a:lnTo>
                  <a:lnTo>
                    <a:pt x="0" y="33115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8288000" cy="32638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4B585F"/>
                  </a:solidFill>
                  <a:latin typeface="Aptos"/>
                  <a:ea typeface="Aptos"/>
                  <a:cs typeface="Aptos"/>
                  <a:sym typeface="Aptos"/>
                </a:rPr>
                <a:t>Luiz Henrique Inácio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4B585F"/>
                  </a:solidFill>
                  <a:latin typeface="Aptos"/>
                  <a:ea typeface="Aptos"/>
                  <a:cs typeface="Aptos"/>
                  <a:sym typeface="Aptos"/>
                </a:rPr>
                <a:t>Nilton Júnior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4B585F"/>
                  </a:solidFill>
                  <a:latin typeface="Aptos"/>
                  <a:ea typeface="Aptos"/>
                  <a:cs typeface="Aptos"/>
                  <a:sym typeface="Aptos"/>
                </a:rPr>
                <a:t>1º MtecDS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6497714" y="373587"/>
            <a:ext cx="5787245" cy="1371792"/>
          </a:xfrm>
          <a:custGeom>
            <a:avLst/>
            <a:gdLst/>
            <a:ahLst/>
            <a:cxnLst/>
            <a:rect l="l" t="t" r="r" b="b"/>
            <a:pathLst>
              <a:path w="5787245" h="1371792">
                <a:moveTo>
                  <a:pt x="0" y="0"/>
                </a:moveTo>
                <a:lnTo>
                  <a:pt x="5787244" y="0"/>
                </a:lnTo>
                <a:lnTo>
                  <a:pt x="5787244" y="1371792"/>
                </a:lnTo>
                <a:lnTo>
                  <a:pt x="0" y="1371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-46064"/>
            <a:ext cx="15773400" cy="3059548"/>
            <a:chOff x="0" y="0"/>
            <a:chExt cx="21031200" cy="40793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4079397"/>
            </a:xfrm>
            <a:custGeom>
              <a:avLst/>
              <a:gdLst/>
              <a:ahLst/>
              <a:cxnLst/>
              <a:rect l="l" t="t" r="r" b="b"/>
              <a:pathLst>
                <a:path w="21031200" h="4079397">
                  <a:moveTo>
                    <a:pt x="0" y="0"/>
                  </a:moveTo>
                  <a:lnTo>
                    <a:pt x="21031200" y="0"/>
                  </a:lnTo>
                  <a:lnTo>
                    <a:pt x="21031200" y="4079397"/>
                  </a:lnTo>
                  <a:lnTo>
                    <a:pt x="0" y="40793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40127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Etapa de desenvolvimento de software: Fase de diagnóstico –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 que é feito nesta fase?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3110900"/>
            <a:ext cx="15773400" cy="7533126"/>
            <a:chOff x="0" y="0"/>
            <a:chExt cx="21031200" cy="100441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10044168"/>
            </a:xfrm>
            <a:custGeom>
              <a:avLst/>
              <a:gdLst/>
              <a:ahLst/>
              <a:cxnLst/>
              <a:rect l="l" t="t" r="r" b="b"/>
              <a:pathLst>
                <a:path w="21031200" h="10044168">
                  <a:moveTo>
                    <a:pt x="0" y="0"/>
                  </a:moveTo>
                  <a:lnTo>
                    <a:pt x="21031200" y="0"/>
                  </a:lnTo>
                  <a:lnTo>
                    <a:pt x="21031200" y="10044168"/>
                  </a:lnTo>
                  <a:lnTo>
                    <a:pt x="0" y="10044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23825"/>
              <a:ext cx="21031200" cy="99203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4"/>
                </a:lnSpc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Essa fase consiste em conhecer detalhadamente o cliente e seu problema.</a:t>
              </a:r>
            </a:p>
            <a:p>
              <a:pPr algn="l">
                <a:lnSpc>
                  <a:spcPts val="3314"/>
                </a:lnSpc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Tudo isso para extrair o máximo de informações para que haja melhor aproveitamentos nas etapas do desenvolvimento.</a:t>
              </a:r>
            </a:p>
            <a:p>
              <a:pPr algn="l">
                <a:lnSpc>
                  <a:spcPts val="3314"/>
                </a:lnSpc>
              </a:pPr>
              <a:endParaRPr lang="en-US" sz="383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2812"/>
                </a:lnSpc>
              </a:pPr>
              <a:r>
                <a:rPr lang="en-US" sz="325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Dados Importantes da fase de diagnóstico:</a:t>
              </a:r>
            </a:p>
            <a:p>
              <a:pPr algn="l">
                <a:lnSpc>
                  <a:spcPts val="3314"/>
                </a:lnSpc>
              </a:pPr>
              <a:endParaRPr lang="en-US" sz="3254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Origem do problema</a:t>
              </a: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Particularidades da situação atual do problema</a:t>
              </a: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Prazo estipulado</a:t>
              </a: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Exigências principais geradas pelo problema</a:t>
              </a: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Abrangência do problema e da solução</a:t>
              </a: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Disponibilidade do orçamento para a solução</a:t>
              </a:r>
            </a:p>
            <a:p>
              <a:pPr marL="694265" lvl="1" indent="-347133" algn="l">
                <a:lnSpc>
                  <a:spcPts val="3314"/>
                </a:lnSpc>
                <a:buFont typeface="Arial"/>
                <a:buChar char="•"/>
              </a:pPr>
              <a:r>
                <a:rPr lang="en-US" sz="3836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Urgência para a resolução e entrega do projeto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Fase de diagnóstico –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 que acontece após esta fase?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738438"/>
            <a:ext cx="15773400" cy="7000875"/>
            <a:chOff x="0" y="0"/>
            <a:chExt cx="21031200" cy="9334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9334500"/>
            </a:xfrm>
            <a:custGeom>
              <a:avLst/>
              <a:gdLst/>
              <a:ahLst/>
              <a:cxnLst/>
              <a:rect l="l" t="t" r="r" b="b"/>
              <a:pathLst>
                <a:path w="21031200" h="9334500">
                  <a:moveTo>
                    <a:pt x="0" y="0"/>
                  </a:moveTo>
                  <a:lnTo>
                    <a:pt x="21031200" y="0"/>
                  </a:lnTo>
                  <a:lnTo>
                    <a:pt x="21031200" y="9334500"/>
                  </a:lnTo>
                  <a:lnTo>
                    <a:pt x="0" y="9334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031200" cy="92868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Feito um (ou mais) diagnósticos com o cliente acerca de seu problema ou produto, é feita, com os dados iniciais coletados, o processo de concepção.</a:t>
              </a: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Nessa etapa, tem-se como objetivo de: Criar uma solução para problema, ou validar, com usuários, equipe de desenvolvedores, se o design (visual e arquitetural) trazido pelo cliente foi realizado corretamente, mudando se houver necessidade.</a:t>
              </a: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Etapa de desenvolvimento de software: Concepção -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Como realizar a imersão?</a:t>
              </a: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738438"/>
            <a:ext cx="15773400" cy="6527007"/>
            <a:chOff x="0" y="0"/>
            <a:chExt cx="21031200" cy="87026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8702676"/>
            </a:xfrm>
            <a:custGeom>
              <a:avLst/>
              <a:gdLst/>
              <a:ahLst/>
              <a:cxnLst/>
              <a:rect l="l" t="t" r="r" b="b"/>
              <a:pathLst>
                <a:path w="21031200" h="8702676">
                  <a:moveTo>
                    <a:pt x="0" y="0"/>
                  </a:moveTo>
                  <a:lnTo>
                    <a:pt x="21031200" y="0"/>
                  </a:lnTo>
                  <a:lnTo>
                    <a:pt x="21031200" y="8702676"/>
                  </a:lnTo>
                  <a:lnTo>
                    <a:pt x="0" y="87026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031200" cy="86550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 que é a imersão?(Entendimento do problema).</a:t>
              </a: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Seu principal objetivo é entender o contexto do problema.</a:t>
              </a:r>
            </a:p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Ela começa com a elaboração da </a:t>
              </a:r>
              <a:r>
                <a:rPr lang="en-US" sz="42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matriz CSD</a:t>
              </a: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(é uma ferramenta que ajuda a organizar informações e a identificar dúvidas, suposições e certezas sobre um projeto. </a:t>
              </a:r>
            </a:p>
            <a:p>
              <a:pPr algn="l">
                <a:lnSpc>
                  <a:spcPts val="4536"/>
                </a:lnSpc>
              </a:pPr>
              <a:r>
                <a:rPr lang="en-US" sz="4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 sigla CSD significa Certezas, Suposições e Dúvidas), para reunir e classificar as informações existentes. </a:t>
              </a:r>
            </a:p>
            <a:p>
              <a:pPr algn="l">
                <a:lnSpc>
                  <a:spcPts val="4536"/>
                </a:lnSpc>
              </a:pPr>
              <a:endParaRPr lang="en-US" sz="42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86000" y="3352800"/>
            <a:ext cx="13716000" cy="3581400"/>
            <a:chOff x="0" y="0"/>
            <a:chExt cx="18288000" cy="477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4775200"/>
            </a:xfrm>
            <a:custGeom>
              <a:avLst/>
              <a:gdLst/>
              <a:ahLst/>
              <a:cxnLst/>
              <a:rect l="l" t="t" r="r" b="b"/>
              <a:pathLst>
                <a:path w="18288000" h="47752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04775"/>
              <a:ext cx="18288000" cy="46704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Técnicas de Levantamento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Entrevista –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Exemplifique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738438"/>
            <a:ext cx="15773400" cy="6527007"/>
            <a:chOff x="0" y="0"/>
            <a:chExt cx="21031200" cy="87026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8702676"/>
            </a:xfrm>
            <a:custGeom>
              <a:avLst/>
              <a:gdLst/>
              <a:ahLst/>
              <a:cxnLst/>
              <a:rect l="l" t="t" r="r" b="b"/>
              <a:pathLst>
                <a:path w="21031200" h="8702676">
                  <a:moveTo>
                    <a:pt x="0" y="0"/>
                  </a:moveTo>
                  <a:lnTo>
                    <a:pt x="21031200" y="0"/>
                  </a:lnTo>
                  <a:lnTo>
                    <a:pt x="21031200" y="8702676"/>
                  </a:lnTo>
                  <a:lnTo>
                    <a:pt x="0" y="87026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0"/>
              <a:ext cx="21031200" cy="860742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082"/>
                </a:lnSpc>
              </a:pP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Uma conversa com 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usuário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(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podem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existir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diversos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usuários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) com 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objetivo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levantar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máximo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informações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geralmente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no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começo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ou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no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fim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quando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surgem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dúvidas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>
                <a:lnSpc>
                  <a:spcPts val="4082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571500" indent="-571500" algn="l">
                <a:lnSpc>
                  <a:spcPts val="4082"/>
                </a:lnSpc>
                <a:buFont typeface="Arial" panose="020B0604020202020204" pitchFamily="34" charset="0"/>
                <a:buChar char="•"/>
              </a:pP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Podemos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fazer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uma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entrevista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conhecer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finalidade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cliente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consequentemente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recursos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que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devem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estar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no software.</a:t>
              </a:r>
            </a:p>
            <a:p>
              <a:pPr marL="571500" indent="-571500" algn="l">
                <a:lnSpc>
                  <a:spcPts val="4082"/>
                </a:lnSpc>
                <a:buFont typeface="Arial" panose="020B0604020202020204" pitchFamily="34" charset="0"/>
                <a:buChar char="•"/>
              </a:pP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Organização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pois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estaremos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tendo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um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contato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com 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futuro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usuário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nosso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sistema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>
                <a:lnSpc>
                  <a:spcPts val="4082"/>
                </a:lnSpc>
              </a:pP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   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Coordenadas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na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qual 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sistema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precisa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funcionar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>
                <a:lnSpc>
                  <a:spcPts val="4082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750093"/>
            <a:ext cx="15773400" cy="1988344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Seleção de documentos -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Exemplifique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738438"/>
            <a:ext cx="15773400" cy="6527007"/>
            <a:chOff x="0" y="0"/>
            <a:chExt cx="21031200" cy="87026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8702676"/>
            </a:xfrm>
            <a:custGeom>
              <a:avLst/>
              <a:gdLst/>
              <a:ahLst/>
              <a:cxnLst/>
              <a:rect l="l" t="t" r="r" b="b"/>
              <a:pathLst>
                <a:path w="21031200" h="8702676">
                  <a:moveTo>
                    <a:pt x="0" y="0"/>
                  </a:moveTo>
                  <a:lnTo>
                    <a:pt x="21031200" y="0"/>
                  </a:lnTo>
                  <a:lnTo>
                    <a:pt x="21031200" y="8702676"/>
                  </a:lnTo>
                  <a:lnTo>
                    <a:pt x="0" y="87026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031200" cy="86550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536"/>
                </a:lnSpc>
              </a:pP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seleção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documentos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é 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processo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escolher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arquivos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mais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relevantes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determinada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finalidade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Escolha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currículos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uma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vaga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emprego</a:t>
              </a: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Separação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boletins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escolares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matrícula</a:t>
              </a: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Triagem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laudos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médicos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diagnóstico</a:t>
              </a: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Seleção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documentos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importantes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(Que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devem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ter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relevância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).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Questionário -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Exemplifique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738438"/>
            <a:ext cx="15773400" cy="6527007"/>
            <a:chOff x="0" y="0"/>
            <a:chExt cx="21031200" cy="87026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8702676"/>
            </a:xfrm>
            <a:custGeom>
              <a:avLst/>
              <a:gdLst/>
              <a:ahLst/>
              <a:cxnLst/>
              <a:rect l="l" t="t" r="r" b="b"/>
              <a:pathLst>
                <a:path w="21031200" h="8702676">
                  <a:moveTo>
                    <a:pt x="0" y="0"/>
                  </a:moveTo>
                  <a:lnTo>
                    <a:pt x="21031200" y="0"/>
                  </a:lnTo>
                  <a:lnTo>
                    <a:pt x="21031200" y="8702676"/>
                  </a:lnTo>
                  <a:lnTo>
                    <a:pt x="0" y="87026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031200" cy="86550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536"/>
                </a:lnSpc>
              </a:pP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Um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questionário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é, por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exemplo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,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uma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série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perguntas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aplicadas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saber 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opinião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público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sobre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um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determinado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produto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Avaliação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satisfação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do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cliente</a:t>
              </a: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Pesquisa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hábitos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alimentares</a:t>
              </a: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Formulário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feedback escolar</a:t>
              </a: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Questionário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vagas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emprego</a:t>
              </a:r>
              <a:r>
                <a:rPr lang="en-US" sz="4200" dirty="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.</a:t>
              </a: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Brainstorm -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Exemplifique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536032"/>
            <a:ext cx="15773400" cy="4360068"/>
            <a:chOff x="0" y="0"/>
            <a:chExt cx="21031200" cy="48646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4864662"/>
            </a:xfrm>
            <a:custGeom>
              <a:avLst/>
              <a:gdLst/>
              <a:ahLst/>
              <a:cxnLst/>
              <a:rect l="l" t="t" r="r" b="b"/>
              <a:pathLst>
                <a:path w="21031200" h="4864662">
                  <a:moveTo>
                    <a:pt x="0" y="0"/>
                  </a:moveTo>
                  <a:lnTo>
                    <a:pt x="21031200" y="0"/>
                  </a:lnTo>
                  <a:lnTo>
                    <a:pt x="21031200" y="4864662"/>
                  </a:lnTo>
                  <a:lnTo>
                    <a:pt x="0" y="4864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031200" cy="4817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Brainstorm é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uma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técnica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usada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gerar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ideias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forma livre e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criativa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.</a:t>
              </a: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Pensar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em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nomes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uma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nova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marca</a:t>
              </a: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Criar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temas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vídeos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um canal e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sugerir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soluções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um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problema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em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grupo</a:t>
              </a: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Desenvolver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ideias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um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produto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específico</a:t>
              </a: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Desenvolver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novas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ideias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ou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planos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eventos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Prototipação - </a:t>
              </a:r>
              <a:r>
                <a:rPr lang="en-US" sz="6600" b="1">
                  <a:solidFill>
                    <a:srgbClr val="C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Exemplifique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7300" y="2781300"/>
            <a:ext cx="15773400" cy="3648496"/>
            <a:chOff x="0" y="0"/>
            <a:chExt cx="21031200" cy="48646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031200" cy="4864662"/>
            </a:xfrm>
            <a:custGeom>
              <a:avLst/>
              <a:gdLst/>
              <a:ahLst/>
              <a:cxnLst/>
              <a:rect l="l" t="t" r="r" b="b"/>
              <a:pathLst>
                <a:path w="21031200" h="4864662">
                  <a:moveTo>
                    <a:pt x="0" y="0"/>
                  </a:moveTo>
                  <a:lnTo>
                    <a:pt x="21031200" y="0"/>
                  </a:lnTo>
                  <a:lnTo>
                    <a:pt x="21031200" y="4864662"/>
                  </a:lnTo>
                  <a:lnTo>
                    <a:pt x="0" y="4864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031200" cy="4817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36"/>
                </a:lnSpc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Prototipação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é a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criação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uma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versão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inicial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um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produto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testes e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melhorias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.</a:t>
              </a:r>
            </a:p>
            <a:p>
              <a:pPr algn="l">
                <a:lnSpc>
                  <a:spcPts val="4536"/>
                </a:lnSpc>
              </a:pP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Esboço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um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aplicativo</a:t>
              </a: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Esboço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para palestras</a:t>
              </a: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Maquete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um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prédio</a:t>
              </a: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Modelo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 de um novo </a:t>
              </a:r>
              <a:r>
                <a:rPr lang="en-US" sz="4200" dirty="0" err="1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brinquedo</a:t>
              </a:r>
              <a:r>
                <a:rPr lang="en-US" sz="4200" dirty="0">
                  <a:solidFill>
                    <a:srgbClr val="000000"/>
                  </a:solidFill>
                  <a:latin typeface="Aptos" panose="020B0604020202020204" charset="0"/>
                  <a:ea typeface="Aptos Bold"/>
                  <a:cs typeface="Aptos Bold"/>
                  <a:sym typeface="Aptos Bold"/>
                </a:rPr>
                <a:t>.</a:t>
              </a:r>
            </a:p>
            <a:p>
              <a:pPr marL="906780" lvl="1" indent="-453390" algn="l">
                <a:lnSpc>
                  <a:spcPts val="4536"/>
                </a:lnSpc>
                <a:buFont typeface="Arial"/>
                <a:buChar char="•"/>
              </a:pPr>
              <a:endParaRPr lang="en-US" sz="4200" dirty="0">
                <a:solidFill>
                  <a:srgbClr val="000000"/>
                </a:solidFill>
                <a:latin typeface="Aptos" panose="020B0604020202020204" charset="0"/>
                <a:ea typeface="Aptos Bold"/>
                <a:cs typeface="Aptos Bold"/>
                <a:sym typeface="Aptos 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538</Words>
  <Application>Microsoft Office PowerPoint</Application>
  <PresentationFormat>Personalizar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Aptos Bold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Atividade_CVDS_4.pptx</dc:title>
  <cp:lastModifiedBy>Micro</cp:lastModifiedBy>
  <cp:revision>4</cp:revision>
  <dcterms:created xsi:type="dcterms:W3CDTF">2006-08-16T00:00:00Z</dcterms:created>
  <dcterms:modified xsi:type="dcterms:W3CDTF">2025-04-10T17:52:51Z</dcterms:modified>
  <dc:identifier>DAGkKw1t_so</dc:identifier>
</cp:coreProperties>
</file>