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4F43C-4FE4-90DA-1687-7D4CAFE70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3D51C2-CE1E-D3AA-B89D-85C12463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D378D-E303-CEF5-1DDE-8504AF90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BBA3D-2FB4-9D6E-9CB4-DBBD659D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CD2BD-D531-9A8B-BB63-6B6772E6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95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D4140-65CD-F713-5DCA-63F3DB0B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0BB89-B370-D484-E487-D39C1232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A7DB1-1275-4F53-7C0B-E7D6B838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487D4-FC33-CE58-4843-C18B0AB2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0FF238-D472-720F-D87B-FA3EF7FF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66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9B57B-CAF7-54A3-EA59-94A9D6E7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68424F-FBC2-4E83-A6D4-9D920006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D9B87-028B-77C6-F470-630D6CD7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C0BE02-D814-1248-F88E-B56B737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D40102-AB05-CF43-6CA8-E320B6FD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95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E6880-AB2E-EBE0-7756-59A423EF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B931B-DF5B-BB8D-FAE3-232868689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51C99C-3716-8F99-9EBD-361C8A768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78F21D-3ECD-A624-28B0-89F2D4DC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4F324-19FC-1824-0D25-941AAB93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E6FA2B-7747-A2C8-CC15-DB9EF297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6B273-A3B9-820D-73EF-5424C57F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A63F8F-9C9B-7D19-C804-281F415D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2A0A8F-B2F5-7498-FA00-0742B2BBD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603A46-B711-E8A5-97F3-EF1B2A012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BE1F4F-94CD-E25A-4CF0-E554C159F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F73648-48E6-9B69-CADE-98E7B930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14E5AC-27C4-EC98-6765-6F2A48A0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2D3571-21DF-4EF6-00EC-9C5473F0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57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4D145-E34A-6933-3712-A40396D1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4FE360-4E08-73D9-A9E7-02C6873F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B13341-BBDE-E343-9BB4-8E5A2151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516F0A-CAD2-9B40-45A8-6BB5DEC8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46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1520B3-F702-8ADC-FA0A-FFDD50FB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980FE0-C1CE-2371-E963-73622EAE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EF43F-85C6-888B-89E9-5DD1558E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53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4D1F9-BA90-746C-17C1-2442AFFD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A8BB3-15DC-839B-AA1C-2F3E1941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65DD1D-BB3C-D682-A070-016B43852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A6540F-8CCC-5B75-15F1-539BE154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6A0D98-346C-DD9D-F103-F283AA2C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B8AC96-1718-590A-036A-5360A623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9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C04B9-B5EF-83FF-8ADF-67C42757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336215-ED41-A37D-A169-C52F80A0F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C18593-56EF-1E5A-2F87-8E62FB607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17222-DC45-7E11-0C79-C57249AB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3EA5E6-87C8-B0AB-CEF5-B263DD16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6E3926-41B9-4C7B-CB95-33C29533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22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4DB8A-6500-7F19-239F-FDFAEA9B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D89FCD-6A41-7F4C-D4A6-59E029EB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A6276A-988F-8E13-A02A-3901696F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82BC3-2C74-41E1-A155-BA335586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79F100-7C01-69C7-6C9A-A5D63FFF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94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8C907B-0F71-1DAA-BE08-D7AAAD5B3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A80256-15F4-E586-C716-B1033B203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BD3C37-5CDA-25EB-8864-D66D4DB8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1955E3-433F-7D63-A320-55EDE62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6F6F4-BDEB-517B-D0F8-F9F0B067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1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E7056E-D99B-BAFB-323F-0651143F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FCC994-B5B6-F59E-21CC-8498C508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12DA4-0ACC-7E89-738E-39414BF2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CD81C-149F-4D65-BF80-D274376150D9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D1FB0-84AD-16E6-0C8B-39139D11E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0895FE-60A7-2015-9B7E-156350FD5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75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9694D-8B03-752A-F9D5-B54210560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Levantamento de Requisitos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4C26E1-343A-F5E7-14C4-B34D45F65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763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3FEC5F9-2AF1-8B64-BBF2-07CCC8CA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requisito?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3F3B36B-610D-A1D6-0185-9676256D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Durante um </a:t>
            </a:r>
            <a:r>
              <a:rPr lang="pt-BR" b="1" dirty="0"/>
              <a:t>projeto</a:t>
            </a:r>
            <a:r>
              <a:rPr lang="pt-BR" dirty="0"/>
              <a:t> de desenvolvimento de sistemas, serão criados requisitos descrevendo as necessidades do negócio (</a:t>
            </a:r>
            <a:r>
              <a:rPr lang="pt-BR" b="1" dirty="0"/>
              <a:t>requisitos do negócio</a:t>
            </a:r>
            <a:r>
              <a:rPr lang="pt-BR" dirty="0"/>
              <a:t>); o que os usuários precisam fazer (</a:t>
            </a:r>
            <a:r>
              <a:rPr lang="pt-BR" b="1" dirty="0"/>
              <a:t>requisitos dos usuários</a:t>
            </a:r>
            <a:r>
              <a:rPr lang="pt-BR" dirty="0"/>
              <a:t>); o que o </a:t>
            </a:r>
            <a:r>
              <a:rPr lang="pt-BR" i="1" dirty="0"/>
              <a:t>software </a:t>
            </a:r>
            <a:r>
              <a:rPr lang="pt-BR" dirty="0"/>
              <a:t>deve fazer (</a:t>
            </a:r>
            <a:r>
              <a:rPr lang="pt-BR" b="1" dirty="0"/>
              <a:t>requisitos funcionais</a:t>
            </a:r>
            <a:r>
              <a:rPr lang="pt-BR" dirty="0"/>
              <a:t>); características que o sistema deve ter (</a:t>
            </a:r>
            <a:r>
              <a:rPr lang="pt-BR" b="1" dirty="0"/>
              <a:t>requisitos não funcionais</a:t>
            </a:r>
            <a:r>
              <a:rPr lang="pt-BR" dirty="0"/>
              <a:t>) e como o sistema deve ser construído (</a:t>
            </a:r>
            <a:r>
              <a:rPr lang="pt-BR" b="1" dirty="0"/>
              <a:t>requisitos do sistema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5183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3FEC5F9-2AF1-8B64-BBF2-07CCC8CA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requisito?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3F3B36B-610D-A1D6-0185-9676256D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Um </a:t>
            </a:r>
            <a:r>
              <a:rPr lang="pt-BR" b="1" dirty="0"/>
              <a:t>requisito funcional </a:t>
            </a:r>
            <a:r>
              <a:rPr lang="pt-BR" dirty="0"/>
              <a:t>está diretamente relacionado a um processo que o sistema precisa realizar como parte do suporte fornecido a uma tarefa do usuário e/ou à informação que o sistema precisa fornecer quando o usuário estiver realizando uma tarefa. Os requisitos funcionais começam a definir como o sistema fornecerá suporte para que um usuário conclua uma tarefa.</a:t>
            </a:r>
          </a:p>
          <a:p>
            <a:pPr marL="0" indent="0">
              <a:buNone/>
            </a:pPr>
            <a:r>
              <a:rPr lang="pt-BR" b="1" dirty="0"/>
              <a:t>Por exemplo,</a:t>
            </a:r>
            <a:r>
              <a:rPr lang="pt-BR" dirty="0"/>
              <a:t> admitindo ser o requisito do usuário “</a:t>
            </a:r>
            <a:r>
              <a:rPr lang="pt-BR" u="sng" dirty="0"/>
              <a:t>Agendar reunião com um cliente</a:t>
            </a:r>
            <a:r>
              <a:rPr lang="pt-BR" dirty="0"/>
              <a:t>”, os </a:t>
            </a:r>
            <a:r>
              <a:rPr lang="pt-BR" b="1" dirty="0"/>
              <a:t>requisitos funcionais</a:t>
            </a:r>
            <a:r>
              <a:rPr lang="pt-BR" dirty="0"/>
              <a:t> associados a essa tarefa incluem:</a:t>
            </a:r>
          </a:p>
          <a:p>
            <a:r>
              <a:rPr lang="pt-BR" dirty="0"/>
              <a:t>Determinar a disponibilidade do cliente;</a:t>
            </a:r>
          </a:p>
          <a:p>
            <a:r>
              <a:rPr lang="pt-BR" dirty="0"/>
              <a:t>Encontrar horários na agenda correspondentes à disponibilidade do cliente;</a:t>
            </a:r>
          </a:p>
          <a:p>
            <a:r>
              <a:rPr lang="pt-BR" dirty="0"/>
              <a:t>Selecionar o horário desejado”;</a:t>
            </a:r>
          </a:p>
          <a:p>
            <a:r>
              <a:rPr lang="pt-BR" dirty="0"/>
              <a:t>Registrar reunião;</a:t>
            </a:r>
          </a:p>
          <a:p>
            <a:r>
              <a:rPr lang="pt-BR" dirty="0"/>
              <a:t>Confirmar reunião.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784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36266B6-E727-2FE4-5152-F3BD4201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75DC3A3-2666-030C-15F1-0AB94B9AB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Processo</a:t>
            </a:r>
            <a:r>
              <a:rPr lang="pt-BR" b="0" dirty="0"/>
              <a:t>: o que os sistema deve realizar;  o sistema deve fazer.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D91E887-E997-FF32-1D33-5F74FB0E48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O sistema deve permitir que os clientes registrados revejam seu próprio histórico de pedidos nos últimos três anos.</a:t>
            </a:r>
          </a:p>
          <a:p>
            <a:r>
              <a:rPr lang="pt-BR" dirty="0"/>
              <a:t>O sistema deve verificar a disponibilidade em estoque dos pedidos que chegam de usuários.</a:t>
            </a:r>
          </a:p>
          <a:p>
            <a:r>
              <a:rPr lang="pt-BR" dirty="0"/>
              <a:t>O sistema deve permitir que os alunos, vejam a programação de um curso quando estiverem se matriculando.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BDBF999-A47A-1325-2705-BDC68B883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Informações</a:t>
            </a:r>
            <a:r>
              <a:rPr lang="pt-BR" b="0" dirty="0"/>
              <a:t>: informações que o sistema deve conter.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E8DDE6-BA86-5762-074E-97DF66B8CBB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O sistema deve conservar o histórico dos pedidos dos clientes por três anos.</a:t>
            </a:r>
          </a:p>
          <a:p>
            <a:r>
              <a:rPr lang="pt-BR" dirty="0"/>
              <a:t>O sistema deve incluir níveis de estoque em tempo real em todos os depósitos.</a:t>
            </a:r>
          </a:p>
          <a:p>
            <a:r>
              <a:rPr lang="pt-BR" dirty="0"/>
              <a:t>O sistema deve incluir as vendas previstas no orçamento e atuais e o volume de vendas no presente ano e nos três anos anteriores.</a:t>
            </a:r>
          </a:p>
        </p:txBody>
      </p:sp>
    </p:spTree>
    <p:extLst>
      <p:ext uri="{BB962C8B-B14F-4D97-AF65-F5344CB8AC3E}">
        <p14:creationId xmlns:p14="http://schemas.microsoft.com/office/powerpoint/2010/main" val="346301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3FEC5F9-2AF1-8B64-BBF2-07CCC8CA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Fique atento.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3F3B36B-610D-A1D6-0185-9676256D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Manter a lista de requisitos enxuta e focada é fator fundamental para o sucesso do projeto. A equipe de projeto não deve ficar adicionando constantemente novos itens à definição dos requisitos, ou o sistema irá crescer cada vez mais e nunca será concluído. </a:t>
            </a:r>
          </a:p>
          <a:p>
            <a:pPr marL="0" indent="0">
              <a:buNone/>
            </a:pPr>
            <a:r>
              <a:rPr lang="pt-BR" dirty="0"/>
              <a:t>A equipe deve identificar cuidadosamente os requisitos e avaliar quais deles estão enquadrados pelo </a:t>
            </a:r>
            <a:r>
              <a:rPr lang="pt-BR" b="1" dirty="0"/>
              <a:t>escopo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dirty="0"/>
              <a:t>É importante que os requisitos sejam identificados como números exclusivos, para que cada um possa ser facilmente controlado ao longo de todo o processo de desenvolvimento.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93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D9E9A-FF43-5DB4-BD42-446A2FEF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 - V</a:t>
            </a:r>
            <a:r>
              <a:rPr lang="pt-BR" sz="4400" dirty="0"/>
              <a:t>endas de veículos novos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3A50BB-25C2-4AAB-54F4-5173B3CFB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8760"/>
            <a:ext cx="5157787" cy="361482"/>
          </a:xfrm>
        </p:spPr>
        <p:txBody>
          <a:bodyPr>
            <a:normAutofit lnSpcReduction="10000"/>
          </a:bodyPr>
          <a:lstStyle/>
          <a:p>
            <a:r>
              <a:rPr lang="pt-BR" sz="2000" dirty="0"/>
              <a:t>1. Gerenciamento de veículos novos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EA7B1E-FF78-809E-5417-B7C14BC44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000" dirty="0"/>
              <a:t>1.1 O sistema permitirá aos gerentes ver o estoque atual de veículos novos.</a:t>
            </a:r>
          </a:p>
          <a:p>
            <a:r>
              <a:rPr lang="pt-BR" sz="2000" dirty="0"/>
              <a:t>1.2 O sistema permitirá que o gerente de veículos novos emita pedidos de novos veículos.</a:t>
            </a:r>
          </a:p>
          <a:p>
            <a:r>
              <a:rPr lang="pt-BR" sz="2000" dirty="0"/>
              <a:t>1.3 O sistema registrará a adição de veículos novos ao estoque quando eles forem recebidos dos fabricantes.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32AF34-EBAE-CE6F-22D2-A63D3B295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26330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pt-BR" sz="2000" dirty="0"/>
              <a:t>2. Gerenciamento das vendas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2F48DE-775C-3EAB-4DB0-F65F670A6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81940"/>
            <a:ext cx="5183188" cy="4576060"/>
          </a:xfrm>
        </p:spPr>
        <p:txBody>
          <a:bodyPr>
            <a:noAutofit/>
          </a:bodyPr>
          <a:lstStyle/>
          <a:p>
            <a:r>
              <a:rPr lang="pt-BR" sz="1700" dirty="0"/>
              <a:t>2.1 O sistema permitirá que os vendedores criem uma oferta aos clientes.</a:t>
            </a:r>
          </a:p>
          <a:p>
            <a:r>
              <a:rPr lang="pt-BR" sz="1700" dirty="0"/>
              <a:t>2.2 O sistema permitirá que os vendedores saibam se uma oferta está vigorando para um veículo específico.</a:t>
            </a:r>
          </a:p>
          <a:p>
            <a:r>
              <a:rPr lang="pt-BR" sz="1700" dirty="0"/>
              <a:t>2.3 O sistema permitirá que os gerentes registrem a aprovação de um determinada oferta aos clientes.</a:t>
            </a:r>
          </a:p>
          <a:p>
            <a:r>
              <a:rPr lang="pt-BR" sz="1700" dirty="0"/>
              <a:t>2.4 O sistema preparará o contrato de vendas.</a:t>
            </a:r>
          </a:p>
          <a:p>
            <a:r>
              <a:rPr lang="pt-BR" sz="1700" dirty="0"/>
              <a:t>2.5 O sistema preparará uma ordem de serviço com base nas opções ao cliente.</a:t>
            </a:r>
          </a:p>
          <a:p>
            <a:r>
              <a:rPr lang="pt-BR" sz="1700" dirty="0"/>
              <a:t>2.6 O sistema registrará o depósito de um cliente.</a:t>
            </a:r>
          </a:p>
          <a:p>
            <a:r>
              <a:rPr lang="pt-BR" sz="1700" dirty="0"/>
              <a:t>2.7 O sistema registrará o pagamento de um cliente.</a:t>
            </a:r>
          </a:p>
          <a:p>
            <a:r>
              <a:rPr lang="pt-BR" sz="1700" dirty="0"/>
              <a:t>2.8 O sistema criará um registro da compra do veículo pelo cliente.</a:t>
            </a:r>
          </a:p>
        </p:txBody>
      </p:sp>
    </p:spTree>
    <p:extLst>
      <p:ext uri="{BB962C8B-B14F-4D97-AF65-F5344CB8AC3E}">
        <p14:creationId xmlns:p14="http://schemas.microsoft.com/office/powerpoint/2010/main" val="3783464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D9E9A-FF43-5DB4-BD42-446A2FEF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 - V</a:t>
            </a:r>
            <a:r>
              <a:rPr lang="pt-BR" sz="4400" dirty="0"/>
              <a:t>endas de veículos usados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3A50BB-25C2-4AAB-54F4-5173B3CFB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8760"/>
            <a:ext cx="5157787" cy="361482"/>
          </a:xfrm>
        </p:spPr>
        <p:txBody>
          <a:bodyPr>
            <a:normAutofit lnSpcReduction="10000"/>
          </a:bodyPr>
          <a:lstStyle/>
          <a:p>
            <a:r>
              <a:rPr lang="pt-BR" sz="2000" dirty="0"/>
              <a:t>3. Gerenciamento de veículos usados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EA7B1E-FF78-809E-5417-B7C14BC44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000" dirty="0"/>
              <a:t>3.1 O sistema registrará as informações sobre a negociação de um veículo por um cliente ...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A30EE3D-0EEE-7BBC-2678-3342489EC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597" y="4864099"/>
            <a:ext cx="10740791" cy="132556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A documentação descreve para os analistas </a:t>
            </a:r>
            <a:r>
              <a:rPr lang="pt-BR" b="1" dirty="0">
                <a:solidFill>
                  <a:srgbClr val="FF0000"/>
                </a:solidFill>
              </a:rPr>
              <a:t>exatamente</a:t>
            </a:r>
            <a:r>
              <a:rPr lang="pt-BR" dirty="0">
                <a:solidFill>
                  <a:srgbClr val="FF0000"/>
                </a:solidFill>
              </a:rPr>
              <a:t> o que o sistema final precisa fazer. Estabelecendo as expectativas do usuário a respeito do sistema. Se e quando surgirem discrepâncias ou mal-entendidos, o documento serve como um recurso para esclarecimento.</a:t>
            </a:r>
          </a:p>
        </p:txBody>
      </p:sp>
    </p:spTree>
    <p:extLst>
      <p:ext uri="{BB962C8B-B14F-4D97-AF65-F5344CB8AC3E}">
        <p14:creationId xmlns:p14="http://schemas.microsoft.com/office/powerpoint/2010/main" val="292099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7745D-72B9-DB43-F403-07720416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62CCAF-6DD1-A2F2-4CDA-3CD8E9A22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Dennis; </a:t>
            </a:r>
            <a:r>
              <a:rPr lang="pt-BR" dirty="0" err="1"/>
              <a:t>Wixom</a:t>
            </a:r>
            <a:r>
              <a:rPr lang="pt-BR" dirty="0"/>
              <a:t>; Roth. Análise e Projeto de Sistemas. </a:t>
            </a:r>
            <a:r>
              <a:rPr lang="pt-BR"/>
              <a:t>Editora LTC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8329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676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Open Sans</vt:lpstr>
      <vt:lpstr>Tema do Office</vt:lpstr>
      <vt:lpstr>Levantamento de Requisitos</vt:lpstr>
      <vt:lpstr>O que é um requisito?</vt:lpstr>
      <vt:lpstr>O que é um requisito?</vt:lpstr>
      <vt:lpstr>Requisitos Funcionais</vt:lpstr>
      <vt:lpstr>Fique atento.</vt:lpstr>
      <vt:lpstr>Requisitos Funcionais - Vendas de veículos novos</vt:lpstr>
      <vt:lpstr>Requisitos Funcionais - Vendas de veículos usados</vt:lpstr>
      <vt:lpstr>Referência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Avezum Martus</dc:creator>
  <cp:lastModifiedBy>Andrea Avezum Martus</cp:lastModifiedBy>
  <cp:revision>7</cp:revision>
  <dcterms:created xsi:type="dcterms:W3CDTF">2025-03-28T00:29:48Z</dcterms:created>
  <dcterms:modified xsi:type="dcterms:W3CDTF">2025-08-04T12:29:44Z</dcterms:modified>
</cp:coreProperties>
</file>