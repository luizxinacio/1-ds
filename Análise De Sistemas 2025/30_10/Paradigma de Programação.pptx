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95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50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314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23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1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03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23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32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30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23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75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4544D6F-221E-47C9-BB7E-437C245FCD2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129205-FEF6-41D5-989E-CA45947936F7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21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38165-1442-4677-957D-A1F9E5BE3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799171"/>
            <a:ext cx="9237133" cy="1143002"/>
          </a:xfrm>
        </p:spPr>
        <p:txBody>
          <a:bodyPr>
            <a:normAutofit/>
          </a:bodyPr>
          <a:lstStyle/>
          <a:p>
            <a:r>
              <a:rPr lang="pt-BR" sz="3600" dirty="0"/>
              <a:t>Paradigmas de Programação e Programação Orientada a Objetos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81A7D9-10EB-4EB5-BE44-50C836985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915827"/>
            <a:ext cx="9144000" cy="808570"/>
          </a:xfrm>
        </p:spPr>
        <p:txBody>
          <a:bodyPr>
            <a:normAutofit fontScale="77500" lnSpcReduction="20000"/>
          </a:bodyPr>
          <a:lstStyle/>
          <a:p>
            <a:r>
              <a:rPr lang="pt-BR" sz="3600" dirty="0"/>
              <a:t>Conceitos, Pilares e Diagrama de Classes</a:t>
            </a:r>
          </a:p>
          <a:p>
            <a:r>
              <a:rPr lang="pt-BR" dirty="0"/>
              <a:t>Nilton C. e Luiz H.</a:t>
            </a:r>
          </a:p>
        </p:txBody>
      </p:sp>
    </p:spTree>
    <p:extLst>
      <p:ext uri="{BB962C8B-B14F-4D97-AF65-F5344CB8AC3E}">
        <p14:creationId xmlns:p14="http://schemas.microsoft.com/office/powerpoint/2010/main" val="175963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097C9-0831-4958-AD70-F12A90731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267" y="280458"/>
            <a:ext cx="10515600" cy="1325563"/>
          </a:xfrm>
        </p:spPr>
        <p:txBody>
          <a:bodyPr/>
          <a:lstStyle/>
          <a:p>
            <a:r>
              <a:rPr lang="pt-BR" dirty="0"/>
              <a:t>O que é Paradigma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2B3481-A97E-4292-8E36-995059323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7" y="1921877"/>
            <a:ext cx="10515600" cy="4254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O nome </a:t>
            </a:r>
            <a:r>
              <a:rPr lang="pt-BR" sz="2400" b="1" dirty="0"/>
              <a:t>paradigma de programação</a:t>
            </a:r>
            <a:r>
              <a:rPr lang="pt-BR" sz="2400" dirty="0"/>
              <a:t> refere-se a um </a:t>
            </a:r>
            <a:r>
              <a:rPr lang="pt-BR" sz="2400" b="1" dirty="0"/>
              <a:t>estilo fundamental, modelo ou método de estruturar e resolver problemas</a:t>
            </a:r>
            <a:r>
              <a:rPr lang="pt-BR" sz="2400" dirty="0"/>
              <a:t> usando uma linguagem de programação. </a:t>
            </a:r>
          </a:p>
          <a:p>
            <a:pPr marL="0" indent="0">
              <a:buNone/>
            </a:pPr>
            <a:r>
              <a:rPr lang="pt-BR" sz="2400" dirty="0"/>
              <a:t>Tendo conjuntos de </a:t>
            </a:r>
            <a:r>
              <a:rPr lang="pt-BR" sz="2400" b="1" dirty="0"/>
              <a:t>conceitos, princípios e práticas</a:t>
            </a:r>
            <a:r>
              <a:rPr lang="pt-BR" sz="2400" dirty="0"/>
              <a:t> que orientam a forma de resolver problemas com código.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Definindo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como pensamos e estruturamos essas soluções computacionais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pt-BR" altLang="pt-BR" sz="2400" dirty="0"/>
              <a:t>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forma de escrever, organizar e executar o código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pt-BR" altLang="pt-BR" sz="2400" b="1" dirty="0"/>
              <a:t>Alguns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</a:t>
            </a:r>
            <a:r>
              <a:rPr lang="pt-BR" sz="2400" b="1" dirty="0"/>
              <a:t>xemplos de paradigmas:</a:t>
            </a:r>
            <a:endParaRPr lang="pt-BR" sz="2400" dirty="0"/>
          </a:p>
          <a:p>
            <a:r>
              <a:rPr lang="pt-BR" sz="2400" dirty="0"/>
              <a:t>Paradigma Imperativo → foco no </a:t>
            </a:r>
            <a:r>
              <a:rPr lang="pt-BR" sz="2400" i="1" dirty="0"/>
              <a:t>como fazer</a:t>
            </a:r>
            <a:r>
              <a:rPr lang="pt-BR" sz="2400" dirty="0"/>
              <a:t>.</a:t>
            </a:r>
          </a:p>
          <a:p>
            <a:r>
              <a:rPr lang="pt-BR" sz="2400" dirty="0"/>
              <a:t>Paradigma Funcional → foco no </a:t>
            </a:r>
            <a:r>
              <a:rPr lang="pt-BR" sz="2400" i="1" dirty="0"/>
              <a:t>que fazer</a:t>
            </a:r>
            <a:r>
              <a:rPr lang="pt-BR" sz="2400" dirty="0"/>
              <a:t>.</a:t>
            </a:r>
          </a:p>
          <a:p>
            <a:r>
              <a:rPr lang="pt-BR" sz="2400" dirty="0"/>
              <a:t>Paradigma Orientado a Objetos → foco em </a:t>
            </a:r>
            <a:r>
              <a:rPr lang="pt-BR" sz="2400" i="1" dirty="0"/>
              <a:t>objetos que interagem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C4F5B3-C6B9-4077-A258-DA6068D9C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634" y="4235573"/>
            <a:ext cx="10320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48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DEFB4-0AFA-4BED-83E2-5466D47C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525"/>
            <a:ext cx="10515600" cy="821991"/>
          </a:xfrm>
        </p:spPr>
        <p:txBody>
          <a:bodyPr/>
          <a:lstStyle/>
          <a:p>
            <a:r>
              <a:rPr lang="pt-BR" dirty="0"/>
              <a:t>Programação Orientada a Objetos (POO)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181E72-BEA3-417D-93B1-F0AA92E8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842"/>
            <a:ext cx="10515600" cy="495283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pt-BR" sz="2900" dirty="0"/>
              <a:t>Baseia-se na </a:t>
            </a:r>
            <a:r>
              <a:rPr lang="pt-BR" sz="2900" b="1" dirty="0"/>
              <a:t>modelagem do mundo real</a:t>
            </a:r>
            <a:r>
              <a:rPr lang="pt-BR" sz="2900" dirty="0"/>
              <a:t> por meio de </a:t>
            </a:r>
            <a:r>
              <a:rPr lang="pt-BR" sz="2900" b="1" dirty="0"/>
              <a:t>objetos</a:t>
            </a:r>
            <a:r>
              <a:rPr lang="pt-BR" sz="2900" dirty="0"/>
              <a:t>.</a:t>
            </a:r>
          </a:p>
          <a:p>
            <a:pPr lvl="0"/>
            <a:r>
              <a:rPr lang="pt-BR" sz="2900" dirty="0"/>
              <a:t>Objetos possuem </a:t>
            </a:r>
            <a:r>
              <a:rPr lang="pt-BR" sz="2900" b="1" dirty="0"/>
              <a:t>atributos (dados)</a:t>
            </a:r>
            <a:r>
              <a:rPr lang="pt-BR" sz="2900" dirty="0"/>
              <a:t> e </a:t>
            </a:r>
            <a:r>
              <a:rPr lang="pt-BR" sz="2900" b="1" dirty="0"/>
              <a:t>métodos (comportamentos)</a:t>
            </a:r>
            <a:r>
              <a:rPr lang="pt-BR" sz="2900" dirty="0"/>
              <a:t>.</a:t>
            </a:r>
          </a:p>
          <a:p>
            <a:pPr marL="457200" lvl="1" indent="0">
              <a:buNone/>
            </a:pPr>
            <a:r>
              <a:rPr lang="pt-BR" sz="2900" b="1" dirty="0"/>
              <a:t> </a:t>
            </a:r>
          </a:p>
          <a:p>
            <a:pPr marL="457200" lvl="1" indent="0">
              <a:buNone/>
            </a:pPr>
            <a:r>
              <a:rPr lang="pt-BR" sz="2900" b="1" dirty="0"/>
              <a:t>Pilares da POO:</a:t>
            </a:r>
          </a:p>
          <a:p>
            <a:pPr marL="457200" lvl="1" indent="0">
              <a:buNone/>
            </a:pPr>
            <a:endParaRPr lang="pt-BR" sz="2900" dirty="0"/>
          </a:p>
          <a:p>
            <a:pPr marL="0" lvl="0" indent="0">
              <a:buNone/>
            </a:pPr>
            <a:r>
              <a:rPr lang="pt-BR" sz="2900" b="1" dirty="0"/>
              <a:t>1- Abstração</a:t>
            </a:r>
            <a:r>
              <a:rPr lang="pt-BR" sz="2900" dirty="0"/>
              <a:t> – simplificar a realidade destacando apenas o essencial e simplifica a complexidade do sistema</a:t>
            </a:r>
          </a:p>
          <a:p>
            <a:pPr marL="0" lvl="0" indent="0">
              <a:buNone/>
            </a:pPr>
            <a:endParaRPr lang="pt-BR" sz="2900" dirty="0"/>
          </a:p>
          <a:p>
            <a:pPr marL="0" indent="0">
              <a:buNone/>
            </a:pPr>
            <a:r>
              <a:rPr lang="pt-BR" sz="2900" b="1" dirty="0"/>
              <a:t>2- Encapsulamento</a:t>
            </a:r>
            <a:r>
              <a:rPr lang="pt-BR" sz="2900" dirty="0"/>
              <a:t> – proteger os dados internos de um objeto e oculta os detalhes internos de um objeto.</a:t>
            </a:r>
          </a:p>
          <a:p>
            <a:pPr lvl="0"/>
            <a:endParaRPr lang="pt-BR" sz="2900" dirty="0"/>
          </a:p>
          <a:p>
            <a:pPr marL="0" lvl="0" indent="0">
              <a:buNone/>
            </a:pPr>
            <a:r>
              <a:rPr lang="pt-BR" sz="2900" b="1" dirty="0"/>
              <a:t>3- Herança</a:t>
            </a:r>
            <a:r>
              <a:rPr lang="pt-BR" sz="2900" dirty="0"/>
              <a:t> – reutilizar código e comportamentos de classes existentes, como também, permite criar novas classes baseadas em classes existentes. Facilitando a reutilização</a:t>
            </a:r>
            <a:r>
              <a:rPr lang="pt-BR" sz="2900" b="1" dirty="0"/>
              <a:t> </a:t>
            </a:r>
            <a:r>
              <a:rPr lang="pt-BR" sz="2900" dirty="0"/>
              <a:t>de</a:t>
            </a:r>
            <a:r>
              <a:rPr lang="pt-BR" sz="2900" b="1" dirty="0"/>
              <a:t> </a:t>
            </a:r>
            <a:r>
              <a:rPr lang="pt-BR" sz="2900" dirty="0"/>
              <a:t>código.</a:t>
            </a:r>
          </a:p>
          <a:p>
            <a:pPr lvl="0"/>
            <a:endParaRPr lang="pt-BR" sz="2900" dirty="0"/>
          </a:p>
          <a:p>
            <a:pPr marL="0" lvl="0" indent="0">
              <a:buNone/>
            </a:pPr>
            <a:r>
              <a:rPr lang="pt-BR" sz="2900" b="1" dirty="0"/>
              <a:t>4- Polimorfismo</a:t>
            </a:r>
            <a:r>
              <a:rPr lang="pt-BR" sz="2900" dirty="0"/>
              <a:t> – permitir múltiplas formas de uso de um mesmo método, e ainda, aumenta a flexibilidade</a:t>
            </a:r>
            <a:r>
              <a:rPr lang="pt-BR" sz="2900" b="1" dirty="0"/>
              <a:t> </a:t>
            </a:r>
            <a:r>
              <a:rPr lang="pt-BR" sz="2900" dirty="0"/>
              <a:t>e</a:t>
            </a:r>
            <a:r>
              <a:rPr lang="pt-BR" sz="2900" b="1" dirty="0"/>
              <a:t> </a:t>
            </a:r>
            <a:r>
              <a:rPr lang="pt-BR" sz="2900" dirty="0"/>
              <a:t>extensibilidade do sistema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07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48CE8-3022-45E1-B189-4136FA25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466"/>
            <a:ext cx="10515600" cy="1447801"/>
          </a:xfrm>
        </p:spPr>
        <p:txBody>
          <a:bodyPr>
            <a:normAutofit/>
          </a:bodyPr>
          <a:lstStyle/>
          <a:p>
            <a:r>
              <a:rPr lang="pt-BR" dirty="0"/>
              <a:t>Diagrama de Classe (UML)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80AD84-4498-40C6-8134-4D7EC31B3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529"/>
            <a:ext cx="10515600" cy="435663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sz="3300" dirty="0"/>
              <a:t>Usado para representar a estrutura das classes de um sistema.</a:t>
            </a:r>
          </a:p>
          <a:p>
            <a:pPr marL="0" indent="0">
              <a:buNone/>
            </a:pPr>
            <a:r>
              <a:rPr lang="pt-BR" sz="3300" b="1" u="sng" dirty="0"/>
              <a:t>Artefatos principais:</a:t>
            </a:r>
          </a:p>
          <a:p>
            <a:endParaRPr lang="pt-BR" sz="3300" u="sng" dirty="0"/>
          </a:p>
          <a:p>
            <a:pPr lvl="0"/>
            <a:r>
              <a:rPr lang="pt-BR" sz="3300" b="1" dirty="0"/>
              <a:t>Classe</a:t>
            </a:r>
            <a:r>
              <a:rPr lang="pt-BR" sz="3300" dirty="0"/>
              <a:t> → representada por um retângulo dividido em três partes:</a:t>
            </a:r>
          </a:p>
          <a:p>
            <a:pPr lvl="1"/>
            <a:r>
              <a:rPr lang="pt-BR" sz="3300" dirty="0"/>
              <a:t>Nome da classe</a:t>
            </a:r>
          </a:p>
          <a:p>
            <a:pPr lvl="1"/>
            <a:r>
              <a:rPr lang="pt-BR" sz="3300" dirty="0"/>
              <a:t>Atributos</a:t>
            </a:r>
          </a:p>
          <a:p>
            <a:pPr lvl="1"/>
            <a:r>
              <a:rPr lang="pt-BR" sz="3300" dirty="0"/>
              <a:t>Métodos</a:t>
            </a:r>
          </a:p>
          <a:p>
            <a:pPr lvl="0"/>
            <a:r>
              <a:rPr lang="pt-BR" sz="3300" b="1" dirty="0"/>
              <a:t>Atributo</a:t>
            </a:r>
            <a:r>
              <a:rPr lang="pt-BR" sz="3300" dirty="0"/>
              <a:t> → características ou propriedades da classe.</a:t>
            </a:r>
          </a:p>
          <a:p>
            <a:pPr lvl="0"/>
            <a:r>
              <a:rPr lang="pt-BR" sz="3300" b="1" dirty="0"/>
              <a:t>Método</a:t>
            </a:r>
            <a:r>
              <a:rPr lang="pt-BR" sz="3300" dirty="0"/>
              <a:t> → comportamentos ou ações da classe.</a:t>
            </a:r>
          </a:p>
          <a:p>
            <a:pPr lvl="0"/>
            <a:endParaRPr lang="pt-BR" sz="3300" dirty="0"/>
          </a:p>
          <a:p>
            <a:pPr marL="0" lvl="0" indent="0">
              <a:buNone/>
            </a:pPr>
            <a:r>
              <a:rPr lang="pt-BR" sz="3300" b="1" u="sng" dirty="0"/>
              <a:t>Relacionamentos</a:t>
            </a:r>
            <a:r>
              <a:rPr lang="pt-BR" sz="3300" dirty="0"/>
              <a:t>:</a:t>
            </a:r>
          </a:p>
          <a:p>
            <a:pPr lvl="0"/>
            <a:endParaRPr lang="pt-BR" sz="3300" dirty="0"/>
          </a:p>
          <a:p>
            <a:pPr lvl="1"/>
            <a:r>
              <a:rPr lang="pt-BR" sz="3300" b="1" dirty="0"/>
              <a:t>Associação</a:t>
            </a:r>
            <a:r>
              <a:rPr lang="pt-BR" sz="3300" dirty="0"/>
              <a:t> – conexão entre classes.</a:t>
            </a:r>
          </a:p>
          <a:p>
            <a:pPr lvl="1"/>
            <a:r>
              <a:rPr lang="pt-BR" sz="3300" b="1" dirty="0"/>
              <a:t>Agregação</a:t>
            </a:r>
            <a:r>
              <a:rPr lang="pt-BR" sz="3300" dirty="0"/>
              <a:t> – “tem um”, mas a classe pode existir separadamente.</a:t>
            </a:r>
          </a:p>
          <a:p>
            <a:pPr lvl="1"/>
            <a:r>
              <a:rPr lang="pt-BR" sz="3300" b="1" dirty="0"/>
              <a:t>Composição</a:t>
            </a:r>
            <a:r>
              <a:rPr lang="pt-BR" sz="3300" dirty="0"/>
              <a:t> – “é parte de”, dependência forte.</a:t>
            </a:r>
          </a:p>
          <a:p>
            <a:pPr lvl="1"/>
            <a:r>
              <a:rPr lang="pt-BR" sz="3300" b="1" dirty="0"/>
              <a:t>Herança (Generalização)</a:t>
            </a:r>
            <a:r>
              <a:rPr lang="pt-BR" sz="3300" dirty="0"/>
              <a:t> – relação “é um”.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717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243FB-5CFC-4D15-A79A-CB3E5E68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Diagrama de Classe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5FB204F-93A6-4FCD-B60F-B7E6FED39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150" y="1846263"/>
            <a:ext cx="4816026" cy="4022725"/>
          </a:xfrm>
        </p:spPr>
      </p:pic>
    </p:spTree>
    <p:extLst>
      <p:ext uri="{BB962C8B-B14F-4D97-AF65-F5344CB8AC3E}">
        <p14:creationId xmlns:p14="http://schemas.microsoft.com/office/powerpoint/2010/main" val="35158256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</TotalTime>
  <Words>346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Retrospectiva</vt:lpstr>
      <vt:lpstr>Paradigmas de Programação e Programação Orientada a Objetos</vt:lpstr>
      <vt:lpstr>O que é Paradigma de Programação</vt:lpstr>
      <vt:lpstr>Programação Orientada a Objetos (POO)</vt:lpstr>
      <vt:lpstr>Diagrama de Classe (UML) </vt:lpstr>
      <vt:lpstr>Exemplo de Diagrama de Classe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 de Programação E Diagrama Classe  </dc:title>
  <dc:creator>Micro</dc:creator>
  <cp:lastModifiedBy>Micro</cp:lastModifiedBy>
  <cp:revision>7</cp:revision>
  <dcterms:created xsi:type="dcterms:W3CDTF">2025-10-30T17:36:06Z</dcterms:created>
  <dcterms:modified xsi:type="dcterms:W3CDTF">2025-11-03T16:06:03Z</dcterms:modified>
</cp:coreProperties>
</file>