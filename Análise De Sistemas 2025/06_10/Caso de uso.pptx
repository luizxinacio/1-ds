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113" d="100"/>
          <a:sy n="113" d="100"/>
        </p:scale>
        <p:origin x="51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ide de Título">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pt-BR"/>
              <a:t>Clique para editar o título Mestre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10/9/2025</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‹nº›</a:t>
            </a:fld>
            <a:endParaRPr lang="en-US" dirty="0"/>
          </a:p>
        </p:txBody>
      </p:sp>
      <p:grpSp>
        <p:nvGrpSpPr>
          <p:cNvPr id="9" name="Group 8"/>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10/9/2025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Cabeçalho da Seção">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accent1"/>
                </a:solidFill>
              </a:defRPr>
            </a:lvl1pPr>
          </a:lstStyle>
          <a:p>
            <a:r>
              <a:rPr lang="pt-BR"/>
              <a:t>Clique para editar o título Mestre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10/9/2025</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‹nº›</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accent1"/>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pt-BR"/>
              <a:t>Clique para editar o título Mestre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10/9/2025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pt-BR"/>
              <a:t>Clique para editar o título Mestre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10/9/2025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10/9/2025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10/9/2025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údo com Legenda">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pt-BR"/>
              <a:t>Clique para editar o título Mestre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10/9/2025</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‹nº›</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m com Legenda">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t-BR"/>
              <a:t>Clique no ícone para adicionar uma imagem</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10/9/2025</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‹nº›</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10/9/2025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10/9/2025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pt-BR"/>
              <a:t>Clique para editar o título Mestre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10/9/2025</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‹nº›</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CA2B13-C318-37B5-5024-F94304AAE0C6}"/>
              </a:ext>
            </a:extLst>
          </p:cNvPr>
          <p:cNvSpPr>
            <a:spLocks noGrp="1"/>
          </p:cNvSpPr>
          <p:nvPr>
            <p:ph type="ctrTitle"/>
          </p:nvPr>
        </p:nvSpPr>
        <p:spPr/>
        <p:txBody>
          <a:bodyPr/>
          <a:lstStyle/>
          <a:p>
            <a:r>
              <a:rPr lang="pt-BR" dirty="0"/>
              <a:t>Caso de uso</a:t>
            </a:r>
          </a:p>
        </p:txBody>
      </p:sp>
      <p:sp>
        <p:nvSpPr>
          <p:cNvPr id="3" name="Subtítulo 2">
            <a:extLst>
              <a:ext uri="{FF2B5EF4-FFF2-40B4-BE49-F238E27FC236}">
                <a16:creationId xmlns:a16="http://schemas.microsoft.com/office/drawing/2014/main" id="{4038E5E1-85EE-CD28-3061-63D6E54938EB}"/>
              </a:ext>
            </a:extLst>
          </p:cNvPr>
          <p:cNvSpPr>
            <a:spLocks noGrp="1"/>
          </p:cNvSpPr>
          <p:nvPr>
            <p:ph type="subTitle" idx="1"/>
          </p:nvPr>
        </p:nvSpPr>
        <p:spPr/>
        <p:txBody>
          <a:bodyPr/>
          <a:lstStyle/>
          <a:p>
            <a:r>
              <a:rPr lang="pt-BR" b="1" i="0" dirty="0">
                <a:solidFill>
                  <a:srgbClr val="000000"/>
                </a:solidFill>
                <a:effectLst/>
                <a:latin typeface="arial" panose="020B0604020202020204" pitchFamily="34" charset="0"/>
              </a:rPr>
              <a:t>Análise e Projeto de Sistemas</a:t>
            </a:r>
          </a:p>
        </p:txBody>
      </p:sp>
    </p:spTree>
    <p:extLst>
      <p:ext uri="{BB962C8B-B14F-4D97-AF65-F5344CB8AC3E}">
        <p14:creationId xmlns:p14="http://schemas.microsoft.com/office/powerpoint/2010/main" val="12382581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4B6BBC-66A1-939F-C547-F1754C5D2B9B}"/>
              </a:ext>
            </a:extLst>
          </p:cNvPr>
          <p:cNvSpPr>
            <a:spLocks noGrp="1"/>
          </p:cNvSpPr>
          <p:nvPr>
            <p:ph type="title"/>
          </p:nvPr>
        </p:nvSpPr>
        <p:spPr/>
        <p:txBody>
          <a:bodyPr/>
          <a:lstStyle/>
          <a:p>
            <a:r>
              <a:rPr lang="pt-BR" dirty="0"/>
              <a:t>Elementos de modelo básicos</a:t>
            </a:r>
          </a:p>
        </p:txBody>
      </p:sp>
      <p:sp>
        <p:nvSpPr>
          <p:cNvPr id="3" name="Espaço Reservado para Texto 2">
            <a:extLst>
              <a:ext uri="{FF2B5EF4-FFF2-40B4-BE49-F238E27FC236}">
                <a16:creationId xmlns:a16="http://schemas.microsoft.com/office/drawing/2014/main" id="{FB7756CE-C305-81BF-54F0-80BB23D30930}"/>
              </a:ext>
            </a:extLst>
          </p:cNvPr>
          <p:cNvSpPr>
            <a:spLocks noGrp="1"/>
          </p:cNvSpPr>
          <p:nvPr>
            <p:ph type="body" idx="1"/>
          </p:nvPr>
        </p:nvSpPr>
        <p:spPr/>
        <p:txBody>
          <a:bodyPr/>
          <a:lstStyle/>
          <a:p>
            <a:r>
              <a:rPr lang="pt-BR" dirty="0"/>
              <a:t>Ator</a:t>
            </a:r>
          </a:p>
        </p:txBody>
      </p:sp>
      <p:sp>
        <p:nvSpPr>
          <p:cNvPr id="4" name="Espaço Reservado para Conteúdo 3">
            <a:extLst>
              <a:ext uri="{FF2B5EF4-FFF2-40B4-BE49-F238E27FC236}">
                <a16:creationId xmlns:a16="http://schemas.microsoft.com/office/drawing/2014/main" id="{8C4764BE-A993-9CF0-5192-F85C5C9E1EE5}"/>
              </a:ext>
            </a:extLst>
          </p:cNvPr>
          <p:cNvSpPr>
            <a:spLocks noGrp="1"/>
          </p:cNvSpPr>
          <p:nvPr>
            <p:ph sz="half" idx="2"/>
          </p:nvPr>
        </p:nvSpPr>
        <p:spPr/>
        <p:txBody>
          <a:bodyPr>
            <a:normAutofit fontScale="62500" lnSpcReduction="20000"/>
          </a:bodyPr>
          <a:lstStyle/>
          <a:p>
            <a:pPr algn="just"/>
            <a:r>
              <a:rPr lang="pt-BR" dirty="0"/>
              <a:t>Em um diagrama de caso de uso, o ator é um elemento fundamental que representa uma entidade externa (pessoa, sistema ou organização) que interage com o sistema, iniciando e/ou participando dos casos de uso para atingir um objetivo. </a:t>
            </a:r>
          </a:p>
          <a:p>
            <a:pPr algn="just"/>
            <a:r>
              <a:rPr lang="pt-BR" dirty="0"/>
              <a:t>Ele é representado por um "boneco palito" e se conecta aos casos de uso por meio de linhas, indicando a interação para realizar uma funcionalidade do sistema. Servindo para definir elementos e melhorar o esclarecimento de interações e a comunicação  </a:t>
            </a:r>
          </a:p>
          <a:p>
            <a:endParaRPr lang="pt-BR" dirty="0"/>
          </a:p>
        </p:txBody>
      </p:sp>
      <p:sp>
        <p:nvSpPr>
          <p:cNvPr id="5" name="Espaço Reservado para Texto 4">
            <a:extLst>
              <a:ext uri="{FF2B5EF4-FFF2-40B4-BE49-F238E27FC236}">
                <a16:creationId xmlns:a16="http://schemas.microsoft.com/office/drawing/2014/main" id="{CD0C378E-2311-49BB-AD5D-2E24382F9AC0}"/>
              </a:ext>
            </a:extLst>
          </p:cNvPr>
          <p:cNvSpPr>
            <a:spLocks noGrp="1"/>
          </p:cNvSpPr>
          <p:nvPr>
            <p:ph type="body" sz="quarter" idx="3"/>
          </p:nvPr>
        </p:nvSpPr>
        <p:spPr/>
        <p:txBody>
          <a:bodyPr/>
          <a:lstStyle/>
          <a:p>
            <a:r>
              <a:rPr lang="pt-BR" dirty="0"/>
              <a:t>Caso de Uso</a:t>
            </a:r>
          </a:p>
        </p:txBody>
      </p:sp>
      <p:sp>
        <p:nvSpPr>
          <p:cNvPr id="6" name="Espaço Reservado para Conteúdo 5">
            <a:extLst>
              <a:ext uri="{FF2B5EF4-FFF2-40B4-BE49-F238E27FC236}">
                <a16:creationId xmlns:a16="http://schemas.microsoft.com/office/drawing/2014/main" id="{9F8D921B-0F4D-6BFF-8549-79828BD40630}"/>
              </a:ext>
            </a:extLst>
          </p:cNvPr>
          <p:cNvSpPr>
            <a:spLocks noGrp="1"/>
          </p:cNvSpPr>
          <p:nvPr>
            <p:ph sz="quarter" idx="4"/>
          </p:nvPr>
        </p:nvSpPr>
        <p:spPr/>
        <p:txBody>
          <a:bodyPr>
            <a:normAutofit fontScale="62500" lnSpcReduction="20000"/>
          </a:bodyPr>
          <a:lstStyle/>
          <a:p>
            <a:pPr algn="just" fontAlgn="ctr"/>
            <a:r>
              <a:rPr lang="pt-BR" dirty="0"/>
              <a:t>Os elementos básicos de um diagrama de caso de uso são: </a:t>
            </a:r>
            <a:r>
              <a:rPr lang="pt-BR" i="1" u="sng" dirty="0"/>
              <a:t>Atores</a:t>
            </a:r>
            <a:r>
              <a:rPr lang="pt-BR" dirty="0"/>
              <a:t> (usuários ou sistemas externos que interagem com o sistema), </a:t>
            </a:r>
            <a:r>
              <a:rPr lang="pt-BR" i="1" u="sng" dirty="0"/>
              <a:t>Casos de Uso </a:t>
            </a:r>
            <a:r>
              <a:rPr lang="pt-BR" dirty="0"/>
              <a:t>(elipses que representam funcionalidades e tarefas, começando com verbos), a </a:t>
            </a:r>
            <a:r>
              <a:rPr lang="pt-BR" i="1" u="sng" dirty="0"/>
              <a:t>Caixa de Limite do Sistema </a:t>
            </a:r>
            <a:r>
              <a:rPr lang="pt-BR" dirty="0"/>
              <a:t>(retângulo que define o escopo do sistema) e os Relacionamentos (linhas que conectam atores e casos de uso, indicando interações e dependências, como incluem e estendem). </a:t>
            </a:r>
          </a:p>
          <a:p>
            <a:pPr algn="just" fontAlgn="ctr"/>
            <a:r>
              <a:rPr lang="pt-BR" dirty="0"/>
              <a:t>Representam uma sequência de ações ou uma funcionalidade que um ator executa no sistema para atingir um objetivo. São representados por elipses. Sua descrição deve começar com um verbo, como "Realizar Login" ou "Consultar Saldo". </a:t>
            </a:r>
          </a:p>
          <a:p>
            <a:endParaRPr lang="pt-BR" dirty="0"/>
          </a:p>
        </p:txBody>
      </p:sp>
    </p:spTree>
    <p:extLst>
      <p:ext uri="{BB962C8B-B14F-4D97-AF65-F5344CB8AC3E}">
        <p14:creationId xmlns:p14="http://schemas.microsoft.com/office/powerpoint/2010/main" val="15502299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4B6BBC-66A1-939F-C547-F1754C5D2B9B}"/>
              </a:ext>
            </a:extLst>
          </p:cNvPr>
          <p:cNvSpPr>
            <a:spLocks noGrp="1"/>
          </p:cNvSpPr>
          <p:nvPr>
            <p:ph type="title"/>
          </p:nvPr>
        </p:nvSpPr>
        <p:spPr/>
        <p:txBody>
          <a:bodyPr/>
          <a:lstStyle/>
          <a:p>
            <a:r>
              <a:rPr lang="pt-BR" dirty="0"/>
              <a:t>Elementos de modelo básicos</a:t>
            </a:r>
          </a:p>
        </p:txBody>
      </p:sp>
      <p:sp>
        <p:nvSpPr>
          <p:cNvPr id="3" name="Espaço Reservado para Texto 2">
            <a:extLst>
              <a:ext uri="{FF2B5EF4-FFF2-40B4-BE49-F238E27FC236}">
                <a16:creationId xmlns:a16="http://schemas.microsoft.com/office/drawing/2014/main" id="{FB7756CE-C305-81BF-54F0-80BB23D30930}"/>
              </a:ext>
            </a:extLst>
          </p:cNvPr>
          <p:cNvSpPr>
            <a:spLocks noGrp="1"/>
          </p:cNvSpPr>
          <p:nvPr>
            <p:ph type="body" idx="1"/>
          </p:nvPr>
        </p:nvSpPr>
        <p:spPr/>
        <p:txBody>
          <a:bodyPr/>
          <a:lstStyle/>
          <a:p>
            <a:r>
              <a:rPr lang="pt-BR" dirty="0"/>
              <a:t>Associações</a:t>
            </a:r>
          </a:p>
        </p:txBody>
      </p:sp>
      <p:sp>
        <p:nvSpPr>
          <p:cNvPr id="4" name="Espaço Reservado para Conteúdo 3">
            <a:extLst>
              <a:ext uri="{FF2B5EF4-FFF2-40B4-BE49-F238E27FC236}">
                <a16:creationId xmlns:a16="http://schemas.microsoft.com/office/drawing/2014/main" id="{8C4764BE-A993-9CF0-5192-F85C5C9E1EE5}"/>
              </a:ext>
            </a:extLst>
          </p:cNvPr>
          <p:cNvSpPr>
            <a:spLocks noGrp="1"/>
          </p:cNvSpPr>
          <p:nvPr>
            <p:ph sz="half" idx="2"/>
          </p:nvPr>
        </p:nvSpPr>
        <p:spPr/>
        <p:txBody>
          <a:bodyPr>
            <a:normAutofit fontScale="62500" lnSpcReduction="20000"/>
          </a:bodyPr>
          <a:lstStyle/>
          <a:p>
            <a:r>
              <a:rPr lang="pt-BR" dirty="0"/>
              <a:t>Representam </a:t>
            </a:r>
            <a:r>
              <a:rPr lang="pt-BR" b="1" dirty="0"/>
              <a:t>relações entre classes ou objetos</a:t>
            </a:r>
            <a:r>
              <a:rPr lang="pt-BR" dirty="0"/>
              <a:t>.</a:t>
            </a:r>
          </a:p>
          <a:p>
            <a:pPr lvl="0"/>
            <a:r>
              <a:rPr lang="pt-BR" dirty="0"/>
              <a:t>Exemplo clássico: uma classe Pessoa pode estar associada à classe Carro, indicando que uma pessoa possui um carro.</a:t>
            </a:r>
          </a:p>
          <a:p>
            <a:pPr lvl="0"/>
            <a:r>
              <a:rPr lang="pt-BR" dirty="0"/>
              <a:t>Podem incluir </a:t>
            </a:r>
            <a:r>
              <a:rPr lang="pt-BR" b="1" dirty="0"/>
              <a:t>multiplicidade</a:t>
            </a:r>
            <a:r>
              <a:rPr lang="pt-BR" dirty="0"/>
              <a:t> (quantos objetos estão envolvidos), </a:t>
            </a:r>
            <a:r>
              <a:rPr lang="pt-BR" b="1" dirty="0"/>
              <a:t>navegabilidade</a:t>
            </a:r>
            <a:r>
              <a:rPr lang="pt-BR" dirty="0"/>
              <a:t> (quem conhece quem) e </a:t>
            </a:r>
            <a:r>
              <a:rPr lang="pt-BR" b="1" dirty="0"/>
              <a:t>nomes de associação</a:t>
            </a:r>
            <a:r>
              <a:rPr lang="pt-BR" dirty="0"/>
              <a:t> (como “possui” ou “gerencia”).</a:t>
            </a:r>
          </a:p>
          <a:p>
            <a:endParaRPr lang="pt-BR" dirty="0"/>
          </a:p>
        </p:txBody>
      </p:sp>
      <p:sp>
        <p:nvSpPr>
          <p:cNvPr id="5" name="Espaço Reservado para Texto 4">
            <a:extLst>
              <a:ext uri="{FF2B5EF4-FFF2-40B4-BE49-F238E27FC236}">
                <a16:creationId xmlns:a16="http://schemas.microsoft.com/office/drawing/2014/main" id="{CD0C378E-2311-49BB-AD5D-2E24382F9AC0}"/>
              </a:ext>
            </a:extLst>
          </p:cNvPr>
          <p:cNvSpPr>
            <a:spLocks noGrp="1"/>
          </p:cNvSpPr>
          <p:nvPr>
            <p:ph type="body" sz="quarter" idx="3"/>
          </p:nvPr>
        </p:nvSpPr>
        <p:spPr/>
        <p:txBody>
          <a:bodyPr/>
          <a:lstStyle/>
          <a:p>
            <a:r>
              <a:rPr lang="pt-BR" dirty="0"/>
              <a:t>Generalizações</a:t>
            </a:r>
          </a:p>
        </p:txBody>
      </p:sp>
      <p:sp>
        <p:nvSpPr>
          <p:cNvPr id="6" name="Espaço Reservado para Conteúdo 5">
            <a:extLst>
              <a:ext uri="{FF2B5EF4-FFF2-40B4-BE49-F238E27FC236}">
                <a16:creationId xmlns:a16="http://schemas.microsoft.com/office/drawing/2014/main" id="{9F8D921B-0F4D-6BFF-8549-79828BD40630}"/>
              </a:ext>
            </a:extLst>
          </p:cNvPr>
          <p:cNvSpPr>
            <a:spLocks noGrp="1"/>
          </p:cNvSpPr>
          <p:nvPr>
            <p:ph sz="quarter" idx="4"/>
          </p:nvPr>
        </p:nvSpPr>
        <p:spPr>
          <a:xfrm>
            <a:off x="6525014" y="3305207"/>
            <a:ext cx="4443984" cy="2562193"/>
          </a:xfrm>
        </p:spPr>
        <p:txBody>
          <a:bodyPr>
            <a:normAutofit fontScale="62500" lnSpcReduction="20000"/>
          </a:bodyPr>
          <a:lstStyle/>
          <a:p>
            <a:r>
              <a:rPr lang="pt-BR" dirty="0"/>
              <a:t>Indicam uma </a:t>
            </a:r>
            <a:r>
              <a:rPr lang="pt-BR" b="1" dirty="0"/>
              <a:t>relação hierárquica</a:t>
            </a:r>
            <a:r>
              <a:rPr lang="pt-BR" dirty="0"/>
              <a:t>, do tipo “é um”.</a:t>
            </a:r>
          </a:p>
          <a:p>
            <a:r>
              <a:rPr lang="pt-BR" dirty="0"/>
              <a:t>Exemplo: Cachorro e Gato podem ser subclasses de Animal, herdando seus atributos e comportamentos</a:t>
            </a:r>
          </a:p>
          <a:p>
            <a:r>
              <a:rPr lang="pt-BR" dirty="0"/>
              <a:t>Generalizar significa reunir objetos ou experiências em uma categoria comum, identificando semelhanças para formar um conceito mais amplo ou aplicar um comportamento aprendido a situações novas. </a:t>
            </a:r>
          </a:p>
          <a:p>
            <a:r>
              <a:rPr lang="pt-BR" dirty="0"/>
              <a:t>Os elementos básicos da generalização incluem o princípio da similaridade, onde se identificam características em comum entre indivíduos ou objetos, </a:t>
            </a:r>
          </a:p>
        </p:txBody>
      </p:sp>
    </p:spTree>
    <p:extLst>
      <p:ext uri="{BB962C8B-B14F-4D97-AF65-F5344CB8AC3E}">
        <p14:creationId xmlns:p14="http://schemas.microsoft.com/office/powerpoint/2010/main" val="581440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4B6BBC-66A1-939F-C547-F1754C5D2B9B}"/>
              </a:ext>
            </a:extLst>
          </p:cNvPr>
          <p:cNvSpPr>
            <a:spLocks noGrp="1"/>
          </p:cNvSpPr>
          <p:nvPr>
            <p:ph type="title"/>
          </p:nvPr>
        </p:nvSpPr>
        <p:spPr/>
        <p:txBody>
          <a:bodyPr/>
          <a:lstStyle/>
          <a:p>
            <a:r>
              <a:rPr lang="pt-BR" dirty="0"/>
              <a:t>Dependências</a:t>
            </a:r>
          </a:p>
        </p:txBody>
      </p:sp>
      <p:sp>
        <p:nvSpPr>
          <p:cNvPr id="3" name="Espaço Reservado para Texto 2">
            <a:extLst>
              <a:ext uri="{FF2B5EF4-FFF2-40B4-BE49-F238E27FC236}">
                <a16:creationId xmlns:a16="http://schemas.microsoft.com/office/drawing/2014/main" id="{FB7756CE-C305-81BF-54F0-80BB23D30930}"/>
              </a:ext>
            </a:extLst>
          </p:cNvPr>
          <p:cNvSpPr>
            <a:spLocks noGrp="1"/>
          </p:cNvSpPr>
          <p:nvPr>
            <p:ph type="body" idx="1"/>
          </p:nvPr>
        </p:nvSpPr>
        <p:spPr/>
        <p:txBody>
          <a:bodyPr/>
          <a:lstStyle/>
          <a:p>
            <a:r>
              <a:rPr lang="pt-BR" dirty="0"/>
              <a:t>&lt;&lt;</a:t>
            </a:r>
            <a:r>
              <a:rPr lang="pt-BR" dirty="0" err="1"/>
              <a:t>extend</a:t>
            </a:r>
            <a:r>
              <a:rPr lang="pt-BR" dirty="0"/>
              <a:t>&gt;&gt;</a:t>
            </a:r>
          </a:p>
        </p:txBody>
      </p:sp>
      <p:sp>
        <p:nvSpPr>
          <p:cNvPr id="4" name="Espaço Reservado para Conteúdo 3">
            <a:extLst>
              <a:ext uri="{FF2B5EF4-FFF2-40B4-BE49-F238E27FC236}">
                <a16:creationId xmlns:a16="http://schemas.microsoft.com/office/drawing/2014/main" id="{8C4764BE-A993-9CF0-5192-F85C5C9E1EE5}"/>
              </a:ext>
            </a:extLst>
          </p:cNvPr>
          <p:cNvSpPr>
            <a:spLocks noGrp="1"/>
          </p:cNvSpPr>
          <p:nvPr>
            <p:ph sz="half" idx="2"/>
          </p:nvPr>
        </p:nvSpPr>
        <p:spPr/>
        <p:txBody>
          <a:bodyPr>
            <a:normAutofit fontScale="55000" lnSpcReduction="20000"/>
          </a:bodyPr>
          <a:lstStyle/>
          <a:p>
            <a:pPr lvl="0"/>
            <a:r>
              <a:rPr lang="pt-BR" b="1" dirty="0"/>
              <a:t>Caso de uso base</a:t>
            </a:r>
            <a:r>
              <a:rPr lang="pt-BR" dirty="0"/>
              <a:t>: é o caso principal, que funciona sozinho.</a:t>
            </a:r>
          </a:p>
          <a:p>
            <a:pPr lvl="0"/>
            <a:r>
              <a:rPr lang="pt-BR" b="1" dirty="0"/>
              <a:t>Caso de uso de extensão</a:t>
            </a:r>
            <a:r>
              <a:rPr lang="pt-BR" dirty="0"/>
              <a:t>: adiciona comportamento </a:t>
            </a:r>
            <a:r>
              <a:rPr lang="pt-BR" b="1" dirty="0"/>
              <a:t>opcional</a:t>
            </a:r>
            <a:r>
              <a:rPr lang="pt-BR" dirty="0"/>
              <a:t> ao caso base, executado </a:t>
            </a:r>
            <a:r>
              <a:rPr lang="pt-BR" b="1" dirty="0"/>
              <a:t>somente sob certas condições</a:t>
            </a:r>
            <a:r>
              <a:rPr lang="pt-BR" dirty="0"/>
              <a:t>.</a:t>
            </a:r>
          </a:p>
          <a:p>
            <a:pPr lvl="0"/>
            <a:r>
              <a:rPr lang="pt-BR" b="1" dirty="0"/>
              <a:t>Relacionamento «</a:t>
            </a:r>
            <a:r>
              <a:rPr lang="pt-BR" b="1" dirty="0" err="1"/>
              <a:t>extend</a:t>
            </a:r>
            <a:r>
              <a:rPr lang="pt-BR" b="1" dirty="0"/>
              <a:t>»</a:t>
            </a:r>
            <a:r>
              <a:rPr lang="pt-BR" dirty="0"/>
              <a:t>:</a:t>
            </a:r>
          </a:p>
          <a:p>
            <a:pPr lvl="0"/>
            <a:r>
              <a:rPr lang="pt-BR" dirty="0"/>
              <a:t>Representado por uma </a:t>
            </a:r>
            <a:r>
              <a:rPr lang="pt-BR" b="1" dirty="0"/>
              <a:t>linha tracejada com seta</a:t>
            </a:r>
            <a:r>
              <a:rPr lang="pt-BR" dirty="0"/>
              <a:t> apontando do caso de uso de extensão para o caso base.</a:t>
            </a:r>
          </a:p>
          <a:p>
            <a:pPr lvl="0"/>
            <a:r>
              <a:rPr lang="pt-BR" dirty="0"/>
              <a:t>A seta é rotulada com o estereótipo «</a:t>
            </a:r>
            <a:r>
              <a:rPr lang="pt-BR" dirty="0" err="1"/>
              <a:t>extend</a:t>
            </a:r>
            <a:r>
              <a:rPr lang="pt-BR" dirty="0"/>
              <a:t>».</a:t>
            </a:r>
          </a:p>
          <a:p>
            <a:pPr lvl="0"/>
            <a:r>
              <a:rPr lang="pt-BR" dirty="0"/>
              <a:t>Pode incluir um </a:t>
            </a:r>
            <a:r>
              <a:rPr lang="pt-BR" b="1" dirty="0"/>
              <a:t>ponto de extensão</a:t>
            </a:r>
            <a:r>
              <a:rPr lang="pt-BR" dirty="0"/>
              <a:t>, que indica onde o comportamento adicional será inserido.</a:t>
            </a:r>
          </a:p>
          <a:p>
            <a:endParaRPr lang="pt-BR" dirty="0"/>
          </a:p>
        </p:txBody>
      </p:sp>
      <p:sp>
        <p:nvSpPr>
          <p:cNvPr id="5" name="Espaço Reservado para Texto 4">
            <a:extLst>
              <a:ext uri="{FF2B5EF4-FFF2-40B4-BE49-F238E27FC236}">
                <a16:creationId xmlns:a16="http://schemas.microsoft.com/office/drawing/2014/main" id="{CD0C378E-2311-49BB-AD5D-2E24382F9AC0}"/>
              </a:ext>
            </a:extLst>
          </p:cNvPr>
          <p:cNvSpPr>
            <a:spLocks noGrp="1"/>
          </p:cNvSpPr>
          <p:nvPr>
            <p:ph type="body" sz="quarter" idx="3"/>
          </p:nvPr>
        </p:nvSpPr>
        <p:spPr/>
        <p:txBody>
          <a:bodyPr/>
          <a:lstStyle/>
          <a:p>
            <a:r>
              <a:rPr lang="pt-BR" dirty="0"/>
              <a:t>&lt;&lt;include&gt;&gt;</a:t>
            </a:r>
          </a:p>
        </p:txBody>
      </p:sp>
      <p:sp>
        <p:nvSpPr>
          <p:cNvPr id="6" name="Espaço Reservado para Conteúdo 5">
            <a:extLst>
              <a:ext uri="{FF2B5EF4-FFF2-40B4-BE49-F238E27FC236}">
                <a16:creationId xmlns:a16="http://schemas.microsoft.com/office/drawing/2014/main" id="{9F8D921B-0F4D-6BFF-8549-79828BD40630}"/>
              </a:ext>
            </a:extLst>
          </p:cNvPr>
          <p:cNvSpPr>
            <a:spLocks noGrp="1"/>
          </p:cNvSpPr>
          <p:nvPr>
            <p:ph sz="quarter" idx="4"/>
          </p:nvPr>
        </p:nvSpPr>
        <p:spPr/>
        <p:txBody>
          <a:bodyPr>
            <a:normAutofit fontScale="55000" lnSpcReduction="20000"/>
          </a:bodyPr>
          <a:lstStyle/>
          <a:p>
            <a:pPr lvl="0"/>
            <a:r>
              <a:rPr lang="pt-BR" b="1" dirty="0"/>
              <a:t>Caso de uso base</a:t>
            </a:r>
            <a:r>
              <a:rPr lang="pt-BR" dirty="0"/>
              <a:t>: é o caso principal que </a:t>
            </a:r>
            <a:r>
              <a:rPr lang="pt-BR" b="1" dirty="0"/>
              <a:t>invoca</a:t>
            </a:r>
            <a:r>
              <a:rPr lang="pt-BR" dirty="0"/>
              <a:t> outro caso de uso.</a:t>
            </a:r>
          </a:p>
          <a:p>
            <a:pPr lvl="0"/>
            <a:r>
              <a:rPr lang="pt-BR" b="1" dirty="0"/>
              <a:t>Caso de uso incluído</a:t>
            </a:r>
            <a:r>
              <a:rPr lang="pt-BR" dirty="0"/>
              <a:t>: contém uma </a:t>
            </a:r>
            <a:r>
              <a:rPr lang="pt-BR" b="1" dirty="0"/>
              <a:t>função obrigatória</a:t>
            </a:r>
            <a:r>
              <a:rPr lang="pt-BR" dirty="0"/>
              <a:t> que será sempre executada como parte do caso base.</a:t>
            </a:r>
          </a:p>
          <a:p>
            <a:pPr lvl="0"/>
            <a:r>
              <a:rPr lang="pt-BR" b="1" dirty="0"/>
              <a:t>Relacionamento «include»</a:t>
            </a:r>
            <a:r>
              <a:rPr lang="pt-BR" dirty="0"/>
              <a:t>:</a:t>
            </a:r>
          </a:p>
          <a:p>
            <a:pPr lvl="0"/>
            <a:r>
              <a:rPr lang="pt-BR" dirty="0"/>
              <a:t>Representado por uma </a:t>
            </a:r>
            <a:r>
              <a:rPr lang="pt-BR" b="1" dirty="0"/>
              <a:t>linha tracejada com seta</a:t>
            </a:r>
            <a:r>
              <a:rPr lang="pt-BR" dirty="0"/>
              <a:t> apontando do caso base para o caso incluído.</a:t>
            </a:r>
          </a:p>
          <a:p>
            <a:pPr lvl="0"/>
            <a:r>
              <a:rPr lang="pt-BR" dirty="0"/>
              <a:t>A seta é rotulada com o estereótipo «include».</a:t>
            </a:r>
          </a:p>
          <a:p>
            <a:pPr lvl="0"/>
            <a:r>
              <a:rPr lang="pt-BR" dirty="0"/>
              <a:t>Indica que o comportamento do caso incluído </a:t>
            </a:r>
            <a:r>
              <a:rPr lang="pt-BR" b="1" dirty="0"/>
              <a:t>faz parte do fluxo principal</a:t>
            </a:r>
            <a:r>
              <a:rPr lang="pt-BR" dirty="0"/>
              <a:t> do caso base.</a:t>
            </a:r>
          </a:p>
          <a:p>
            <a:endParaRPr lang="pt-BR" dirty="0"/>
          </a:p>
        </p:txBody>
      </p:sp>
    </p:spTree>
    <p:extLst>
      <p:ext uri="{BB962C8B-B14F-4D97-AF65-F5344CB8AC3E}">
        <p14:creationId xmlns:p14="http://schemas.microsoft.com/office/powerpoint/2010/main" val="36299369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4B6BBC-66A1-939F-C547-F1754C5D2B9B}"/>
              </a:ext>
            </a:extLst>
          </p:cNvPr>
          <p:cNvSpPr>
            <a:spLocks noGrp="1"/>
          </p:cNvSpPr>
          <p:nvPr>
            <p:ph type="title"/>
          </p:nvPr>
        </p:nvSpPr>
        <p:spPr/>
        <p:txBody>
          <a:bodyPr/>
          <a:lstStyle/>
          <a:p>
            <a:r>
              <a:rPr lang="pt-BR" dirty="0"/>
              <a:t>Exemplos</a:t>
            </a:r>
          </a:p>
        </p:txBody>
      </p:sp>
      <p:sp>
        <p:nvSpPr>
          <p:cNvPr id="3" name="Espaço Reservado para Texto 2">
            <a:extLst>
              <a:ext uri="{FF2B5EF4-FFF2-40B4-BE49-F238E27FC236}">
                <a16:creationId xmlns:a16="http://schemas.microsoft.com/office/drawing/2014/main" id="{FB7756CE-C305-81BF-54F0-80BB23D30930}"/>
              </a:ext>
            </a:extLst>
          </p:cNvPr>
          <p:cNvSpPr>
            <a:spLocks noGrp="1"/>
          </p:cNvSpPr>
          <p:nvPr>
            <p:ph type="body" idx="1"/>
          </p:nvPr>
        </p:nvSpPr>
        <p:spPr/>
        <p:txBody>
          <a:bodyPr/>
          <a:lstStyle/>
          <a:p>
            <a:r>
              <a:rPr lang="pt-BR" dirty="0"/>
              <a:t>&lt;&lt;</a:t>
            </a:r>
            <a:r>
              <a:rPr lang="pt-BR" dirty="0" err="1"/>
              <a:t>extend</a:t>
            </a:r>
            <a:r>
              <a:rPr lang="pt-BR" dirty="0"/>
              <a:t>&gt;&gt;</a:t>
            </a:r>
          </a:p>
        </p:txBody>
      </p:sp>
      <p:sp>
        <p:nvSpPr>
          <p:cNvPr id="5" name="Espaço Reservado para Texto 4">
            <a:extLst>
              <a:ext uri="{FF2B5EF4-FFF2-40B4-BE49-F238E27FC236}">
                <a16:creationId xmlns:a16="http://schemas.microsoft.com/office/drawing/2014/main" id="{CD0C378E-2311-49BB-AD5D-2E24382F9AC0}"/>
              </a:ext>
            </a:extLst>
          </p:cNvPr>
          <p:cNvSpPr>
            <a:spLocks noGrp="1"/>
          </p:cNvSpPr>
          <p:nvPr>
            <p:ph type="body" sz="quarter" idx="3"/>
          </p:nvPr>
        </p:nvSpPr>
        <p:spPr/>
        <p:txBody>
          <a:bodyPr/>
          <a:lstStyle/>
          <a:p>
            <a:r>
              <a:rPr lang="pt-BR" dirty="0"/>
              <a:t>&lt;&lt;include&gt;&gt;</a:t>
            </a:r>
          </a:p>
        </p:txBody>
      </p:sp>
      <p:pic>
        <p:nvPicPr>
          <p:cNvPr id="2052" name="Picture 4" descr="O que são e para que servem os Casos de Uso (UML)?">
            <a:extLst>
              <a:ext uri="{FF2B5EF4-FFF2-40B4-BE49-F238E27FC236}">
                <a16:creationId xmlns:a16="http://schemas.microsoft.com/office/drawing/2014/main" id="{AF55D9A4-7DF2-497F-994F-7D0D270F0902}"/>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1371600" y="3848308"/>
            <a:ext cx="4443413" cy="1475958"/>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Casos de uso: diferenças entre include, extend e generalização | Fábio Arezi">
            <a:extLst>
              <a:ext uri="{FF2B5EF4-FFF2-40B4-BE49-F238E27FC236}">
                <a16:creationId xmlns:a16="http://schemas.microsoft.com/office/drawing/2014/main" id="{A879FA86-ABDC-4DC3-B283-4A3C208F85DA}"/>
              </a:ext>
            </a:extLst>
          </p:cNvPr>
          <p:cNvPicPr>
            <a:picLocks noGrp="1" noChangeAspect="1" noChangeArrowheads="1"/>
          </p:cNvPicPr>
          <p:nvPr>
            <p:ph sz="quarter" idx="4"/>
          </p:nvPr>
        </p:nvPicPr>
        <p:blipFill>
          <a:blip r:embed="rId3">
            <a:extLst>
              <a:ext uri="{28A0092B-C50C-407E-A947-70E740481C1C}">
                <a14:useLocalDpi xmlns:a14="http://schemas.microsoft.com/office/drawing/2010/main" val="0"/>
              </a:ext>
            </a:extLst>
          </a:blip>
          <a:srcRect/>
          <a:stretch>
            <a:fillRect/>
          </a:stretch>
        </p:blipFill>
        <p:spPr bwMode="auto">
          <a:xfrm>
            <a:off x="6524625" y="3488825"/>
            <a:ext cx="4445000" cy="2194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89172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8D6A19-E475-FD5D-5220-4D88C2A0E163}"/>
              </a:ext>
            </a:extLst>
          </p:cNvPr>
          <p:cNvSpPr>
            <a:spLocks noGrp="1"/>
          </p:cNvSpPr>
          <p:nvPr>
            <p:ph type="title"/>
          </p:nvPr>
        </p:nvSpPr>
        <p:spPr/>
        <p:txBody>
          <a:bodyPr/>
          <a:lstStyle/>
          <a:p>
            <a:r>
              <a:rPr lang="pt-BR" dirty="0"/>
              <a:t>Um exemplo de diagrama com &lt;&lt;include&gt;&gt;  e  &lt;&lt;</a:t>
            </a:r>
            <a:r>
              <a:rPr lang="pt-BR" dirty="0" err="1"/>
              <a:t>extend</a:t>
            </a:r>
            <a:r>
              <a:rPr lang="pt-BR" dirty="0"/>
              <a:t>&gt;&gt;</a:t>
            </a:r>
          </a:p>
        </p:txBody>
      </p:sp>
      <p:pic>
        <p:nvPicPr>
          <p:cNvPr id="3074" name="Picture 2" descr="Diagrama de casos de uso. Diagrama de caso de uso é um diagrama… | by  Carlos Barcelos | Documentaçao UML | Medium">
            <a:extLst>
              <a:ext uri="{FF2B5EF4-FFF2-40B4-BE49-F238E27FC236}">
                <a16:creationId xmlns:a16="http://schemas.microsoft.com/office/drawing/2014/main" id="{266955C5-4BB7-41B3-B781-FC412A92AB9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82661" y="2286000"/>
            <a:ext cx="6779078" cy="3581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59581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877818C6-F60B-3A9C-0AA8-FBF408C637F2}"/>
              </a:ext>
            </a:extLst>
          </p:cNvPr>
          <p:cNvSpPr>
            <a:spLocks noGrp="1"/>
          </p:cNvSpPr>
          <p:nvPr>
            <p:ph type="title"/>
          </p:nvPr>
        </p:nvSpPr>
        <p:spPr/>
        <p:txBody>
          <a:bodyPr/>
          <a:lstStyle/>
          <a:p>
            <a:r>
              <a:rPr lang="pt-BR" dirty="0"/>
              <a:t>Prepare este diagrama para Pedido de Pizza</a:t>
            </a:r>
          </a:p>
        </p:txBody>
      </p:sp>
      <p:pic>
        <p:nvPicPr>
          <p:cNvPr id="6" name="Imagem 5">
            <a:extLst>
              <a:ext uri="{FF2B5EF4-FFF2-40B4-BE49-F238E27FC236}">
                <a16:creationId xmlns:a16="http://schemas.microsoft.com/office/drawing/2014/main" id="{C03924CC-CA40-913E-F1F8-3EF216EBD17A}"/>
              </a:ext>
            </a:extLst>
          </p:cNvPr>
          <p:cNvPicPr>
            <a:picLocks noChangeAspect="1"/>
          </p:cNvPicPr>
          <p:nvPr/>
        </p:nvPicPr>
        <p:blipFill>
          <a:blip r:embed="rId2"/>
          <a:stretch>
            <a:fillRect/>
          </a:stretch>
        </p:blipFill>
        <p:spPr>
          <a:xfrm>
            <a:off x="3733459" y="1828194"/>
            <a:ext cx="4877481" cy="4344006"/>
          </a:xfrm>
          <a:prstGeom prst="rect">
            <a:avLst/>
          </a:prstGeom>
        </p:spPr>
      </p:pic>
    </p:spTree>
    <p:extLst>
      <p:ext uri="{BB962C8B-B14F-4D97-AF65-F5344CB8AC3E}">
        <p14:creationId xmlns:p14="http://schemas.microsoft.com/office/powerpoint/2010/main" val="41450004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877818C6-F60B-3A9C-0AA8-FBF408C637F2}"/>
              </a:ext>
            </a:extLst>
          </p:cNvPr>
          <p:cNvSpPr>
            <a:spLocks noGrp="1"/>
          </p:cNvSpPr>
          <p:nvPr>
            <p:ph type="title"/>
          </p:nvPr>
        </p:nvSpPr>
        <p:spPr/>
        <p:txBody>
          <a:bodyPr/>
          <a:lstStyle/>
          <a:p>
            <a:r>
              <a:rPr lang="pt-BR" dirty="0"/>
              <a:t>Prepare este diagrama para Compra de Produto</a:t>
            </a:r>
          </a:p>
        </p:txBody>
      </p:sp>
      <p:pic>
        <p:nvPicPr>
          <p:cNvPr id="3" name="Imagem 2">
            <a:extLst>
              <a:ext uri="{FF2B5EF4-FFF2-40B4-BE49-F238E27FC236}">
                <a16:creationId xmlns:a16="http://schemas.microsoft.com/office/drawing/2014/main" id="{02C47C58-E965-EB4F-3907-630E0DA958FA}"/>
              </a:ext>
            </a:extLst>
          </p:cNvPr>
          <p:cNvPicPr>
            <a:picLocks noChangeAspect="1"/>
          </p:cNvPicPr>
          <p:nvPr/>
        </p:nvPicPr>
        <p:blipFill>
          <a:blip r:embed="rId2"/>
          <a:stretch>
            <a:fillRect/>
          </a:stretch>
        </p:blipFill>
        <p:spPr>
          <a:xfrm>
            <a:off x="3475282" y="1995719"/>
            <a:ext cx="5811061" cy="4515480"/>
          </a:xfrm>
          <a:prstGeom prst="rect">
            <a:avLst/>
          </a:prstGeom>
        </p:spPr>
      </p:pic>
    </p:spTree>
    <p:extLst>
      <p:ext uri="{BB962C8B-B14F-4D97-AF65-F5344CB8AC3E}">
        <p14:creationId xmlns:p14="http://schemas.microsoft.com/office/powerpoint/2010/main" val="1187208180"/>
      </p:ext>
    </p:extLst>
  </p:cSld>
  <p:clrMapOvr>
    <a:masterClrMapping/>
  </p:clrMapOvr>
</p:sld>
</file>

<file path=ppt/theme/theme1.xml><?xml version="1.0" encoding="utf-8"?>
<a:theme xmlns:a="http://schemas.openxmlformats.org/drawingml/2006/main" name="Cortar">
  <a:themeElements>
    <a:clrScheme name="Crop">
      <a:dk1>
        <a:sysClr val="windowText" lastClr="000000"/>
      </a:dk1>
      <a:lt1>
        <a:sysClr val="window" lastClr="FFFFFF"/>
      </a:lt1>
      <a:dk2>
        <a:srgbClr val="1A2E40"/>
      </a:dk2>
      <a:lt2>
        <a:srgbClr val="EBE7DD"/>
      </a:lt2>
      <a:accent1>
        <a:srgbClr val="69A1AB"/>
      </a:accent1>
      <a:accent2>
        <a:srgbClr val="F2C418"/>
      </a:accent2>
      <a:accent3>
        <a:srgbClr val="87492C"/>
      </a:accent3>
      <a:accent4>
        <a:srgbClr val="4A845E"/>
      </a:accent4>
      <a:accent5>
        <a:srgbClr val="DC9528"/>
      </a:accent5>
      <a:accent6>
        <a:srgbClr val="9A5D78"/>
      </a:accent6>
      <a:hlink>
        <a:srgbClr val="66C8E3"/>
      </a:hlink>
      <a:folHlink>
        <a:srgbClr val="B162A1"/>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17F9D331-421E-442F-B033-AF5B21A44854}"/>
    </a:ext>
  </a:extLst>
</a:theme>
</file>

<file path=docProps/app.xml><?xml version="1.0" encoding="utf-8"?>
<Properties xmlns="http://schemas.openxmlformats.org/officeDocument/2006/extended-properties" xmlns:vt="http://schemas.openxmlformats.org/officeDocument/2006/docPropsVTypes">
  <Template>TM10001105[[fn=Cortar]]</Template>
  <TotalTime>59</TotalTime>
  <Words>579</Words>
  <Application>Microsoft Office PowerPoint</Application>
  <PresentationFormat>Widescreen</PresentationFormat>
  <Paragraphs>40</Paragraphs>
  <Slides>8</Slides>
  <Notes>0</Notes>
  <HiddenSlides>0</HiddenSlides>
  <MMClips>0</MMClips>
  <ScaleCrop>false</ScaleCrop>
  <HeadingPairs>
    <vt:vector size="6" baseType="variant">
      <vt:variant>
        <vt:lpstr>Fontes usadas</vt:lpstr>
      </vt:variant>
      <vt:variant>
        <vt:i4>2</vt:i4>
      </vt:variant>
      <vt:variant>
        <vt:lpstr>Tema</vt:lpstr>
      </vt:variant>
      <vt:variant>
        <vt:i4>1</vt:i4>
      </vt:variant>
      <vt:variant>
        <vt:lpstr>Títulos de slides</vt:lpstr>
      </vt:variant>
      <vt:variant>
        <vt:i4>8</vt:i4>
      </vt:variant>
    </vt:vector>
  </HeadingPairs>
  <TitlesOfParts>
    <vt:vector size="11" baseType="lpstr">
      <vt:lpstr>Arial</vt:lpstr>
      <vt:lpstr>Franklin Gothic Book</vt:lpstr>
      <vt:lpstr>Cortar</vt:lpstr>
      <vt:lpstr>Caso de uso</vt:lpstr>
      <vt:lpstr>Elementos de modelo básicos</vt:lpstr>
      <vt:lpstr>Elementos de modelo básicos</vt:lpstr>
      <vt:lpstr>Dependências</vt:lpstr>
      <vt:lpstr>Exemplos</vt:lpstr>
      <vt:lpstr>Um exemplo de diagrama com &lt;&lt;include&gt;&gt;  e  &lt;&lt;extend&gt;&gt;</vt:lpstr>
      <vt:lpstr>Prepare este diagrama para Pedido de Pizza</vt:lpstr>
      <vt:lpstr>Prepare este diagrama para Compra de Produto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Caso de uso</dc:title>
  <dc:creator>Andrea Avezum Martus</dc:creator>
  <cp:lastModifiedBy>Micro</cp:lastModifiedBy>
  <cp:revision>6</cp:revision>
  <dcterms:created xsi:type="dcterms:W3CDTF">2025-10-05T21:19:58Z</dcterms:created>
  <dcterms:modified xsi:type="dcterms:W3CDTF">2025-10-09T17:55:26Z</dcterms:modified>
</cp:coreProperties>
</file>